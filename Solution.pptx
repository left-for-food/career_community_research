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72" r:id="rId4"/>
    <p:sldId id="273" r:id="rId5"/>
    <p:sldId id="2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5" d="100"/>
          <a:sy n="75" d="100"/>
        </p:scale>
        <p:origin x="80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FD96D-F7DF-E612-FBB8-32697F812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200CDD-9831-6BB5-72B0-F29EF7FA73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C4273-662B-6063-2FCB-C77D80161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917-FB6B-4472-8CD8-0A38A4C7AE01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63345-4234-ABB2-7498-4AF45F95D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99771-12CF-E7A7-EB46-573C92878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366E-0082-4081-A3CC-E5325DFE7D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432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F9BCD-A6BF-1E6A-44B7-B2BBF01C9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F93B3-3B52-A0E6-DC8C-E1B566BDC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9AE2D-00CA-849B-94FC-AF5E0C218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917-FB6B-4472-8CD8-0A38A4C7AE01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EC3C0-2A9E-833E-17C4-9B370EAA1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66216-9774-EC42-82E6-0F6684479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366E-0082-4081-A3CC-E5325DFE7D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3908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87D63-743F-2F97-94EA-71480BD14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32326-BC96-9774-7802-A4DE54E76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98A9B-D558-2935-8BD8-01912AA5A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917-FB6B-4472-8CD8-0A38A4C7AE01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8421A-F19A-F347-D2A7-504D04FE0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D3C55-B9AE-15F6-3428-B31FED355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366E-0082-4081-A3CC-E5325DFE7D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646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8CF6A-DB58-CAC5-8D33-394699AD3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A3381-F309-A671-456C-801158464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F754C6-CB78-3F56-AF16-CDAF78F0E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2A963F-3AE3-E997-0532-86F37BBC9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917-FB6B-4472-8CD8-0A38A4C7AE01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FE2C04-8028-FEE8-3692-1AC2652F3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B8E61-EBE2-A5CF-4311-9343A8B07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366E-0082-4081-A3CC-E5325DFE7D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859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1CF6F-A75C-4CC4-0148-F767000AA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09927-2178-E68E-5811-C58ED6AD0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2B8C9B-170D-6CF5-E749-7CB3FA6F6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D86D2B-0242-5E54-4B2F-D80CE305CF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AE2EA-4B5A-CB57-86DA-F6EA93ADD5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1D5ADC-517D-5468-728B-319B05803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917-FB6B-4472-8CD8-0A38A4C7AE01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0C8EF3-7E0D-8B58-C6C8-5992ACED8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FD5BFA-4221-55E2-AB19-EB92FB8B9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366E-0082-4081-A3CC-E5325DFE7D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453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1C920-A96A-D310-BD71-4EDBA4828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2DD7D1-EC17-6EDC-3B6F-AF2E41738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917-FB6B-4472-8CD8-0A38A4C7AE01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EA2ECC-C3C4-623A-C36E-DF6A312F9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421A06-57A5-FDA5-7748-F4DD49A81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366E-0082-4081-A3CC-E5325DFE7D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207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DCD4B3-E219-FFDF-624C-19E044E1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917-FB6B-4472-8CD8-0A38A4C7AE01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3093F-AB81-73BF-E5A8-6F83F0EE8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74827-595A-29CD-FD83-2A118A1CD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366E-0082-4081-A3CC-E5325DFE7D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3740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7B3C3-6282-95E4-19DE-2984D3CEA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CE484-C292-228A-93C7-554EC8528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4462D-16AA-CFC8-4EC4-98115FF73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BD6E2-B368-EEF8-3CCF-3DB56DE07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917-FB6B-4472-8CD8-0A38A4C7AE01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A9140-7AA5-EF1C-0EC4-D93E239A7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7BD2D4-446F-BA0E-1369-1AF1ED082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366E-0082-4081-A3CC-E5325DFE7D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8373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3434D-E93F-CF4E-B40F-ABEAFCA26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B82E8-3A9B-F222-7BEC-AD716422CBC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D620F-669B-B945-DE4B-C4F03DCB2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89230-A5AB-73EC-6228-42F312CB1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917-FB6B-4472-8CD8-0A38A4C7AE01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3F2F9F-2563-441E-B44C-397FDD9FE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6A5AC-5586-2D9A-B3A8-C589DEC7A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366E-0082-4081-A3CC-E5325DFE7D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047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01DCB-B899-B1C7-1A7E-2D8497208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478C6E-9B05-3CBD-53BC-39949E75AF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DB984-3440-5923-A6D4-70D991319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917-FB6B-4472-8CD8-0A38A4C7AE01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92B80-2B08-E7CC-3B2B-8D3DED8FC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A4C77-371A-F00C-4EE7-657B8953C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366E-0082-4081-A3CC-E5325DFE7D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8705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45AB73-7997-35B0-198B-5D7D9D3898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C44596-4A00-0941-2250-0357B7018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48CFE-7107-B5DD-A680-3C1CE02AB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917-FB6B-4472-8CD8-0A38A4C7AE01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23E54-46C5-6FEA-D805-F3AC89D98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CEF9B-2641-D22E-8E59-75E9B2B9B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366E-0082-4081-A3CC-E5325DFE7D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577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 bwMode="auto">
          <a:xfrm>
            <a:off x="6797889" y="65370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 sz="2400"/>
          </a:p>
        </p:txBody>
      </p:sp>
      <p:sp>
        <p:nvSpPr>
          <p:cNvPr id="8" name="TextBox 7"/>
          <p:cNvSpPr txBox="1"/>
          <p:nvPr/>
        </p:nvSpPr>
        <p:spPr bwMode="auto">
          <a:xfrm>
            <a:off x="7881069" y="569652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 sz="2400"/>
          </a:p>
        </p:txBody>
      </p:sp>
      <p:sp>
        <p:nvSpPr>
          <p:cNvPr id="2" name="TextBox 1"/>
          <p:cNvSpPr txBox="1"/>
          <p:nvPr userDrawn="1"/>
        </p:nvSpPr>
        <p:spPr bwMode="auto">
          <a:xfrm>
            <a:off x="6797889" y="65370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 sz="2400"/>
          </a:p>
        </p:txBody>
      </p:sp>
      <p:sp>
        <p:nvSpPr>
          <p:cNvPr id="3" name="TextBox 2"/>
          <p:cNvSpPr txBox="1"/>
          <p:nvPr userDrawn="1"/>
        </p:nvSpPr>
        <p:spPr bwMode="auto">
          <a:xfrm>
            <a:off x="7881069" y="569652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 sz="240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609599" y="1386883"/>
            <a:ext cx="11185676" cy="4980051"/>
          </a:xfrm>
        </p:spPr>
        <p:txBody>
          <a:bodyPr>
            <a:normAutofit/>
          </a:bodyPr>
          <a:lstStyle>
            <a:lvl1pPr marL="0" indent="0" algn="l">
              <a:buFont typeface="Arial"/>
              <a:buNone/>
              <a:defRPr sz="2667"/>
            </a:lvl1pPr>
            <a:lvl2pPr marL="609585" indent="0">
              <a:buFont typeface="Arial"/>
              <a:buNone/>
              <a:defRPr sz="3200"/>
            </a:lvl2pPr>
            <a:lvl3pPr marL="1219170" indent="0">
              <a:buFont typeface="Arial"/>
              <a:buNone/>
              <a:defRPr sz="2667"/>
            </a:lvl3pPr>
            <a:lvl4pPr marL="1828754" indent="0">
              <a:buFont typeface="Arial"/>
              <a:buNone/>
              <a:defRPr sz="2400"/>
            </a:lvl4pPr>
            <a:lvl5pPr marL="2438339" indent="0">
              <a:buFont typeface="Arial"/>
              <a:buNone/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>
              <a:defRPr/>
            </a:pPr>
            <a:r>
              <a:rPr lang="ru-RU" sz="2667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2667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2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72600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832151" y="1644953"/>
            <a:ext cx="9560076" cy="4547808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133"/>
            </a:lvl1pPr>
            <a:lvl2pPr marL="609585" indent="0">
              <a:buFontTx/>
              <a:buNone/>
              <a:defRPr sz="2133"/>
            </a:lvl2pPr>
            <a:lvl3pPr marL="1219170" indent="0">
              <a:buFontTx/>
              <a:buNone/>
              <a:defRPr sz="2133"/>
            </a:lvl3pPr>
            <a:lvl4pPr marL="1828754" indent="0">
              <a:buFontTx/>
              <a:buNone/>
              <a:defRPr sz="2133"/>
            </a:lvl4pPr>
            <a:lvl5pPr>
              <a:buFontTx/>
              <a:buNone/>
              <a:defRPr sz="2133"/>
            </a:lvl5pPr>
          </a:lstStyle>
          <a:p>
            <a:pPr>
              <a:defRPr/>
            </a:pPr>
            <a:r>
              <a:rPr lang="ru-RU" sz="2133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2133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867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67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67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67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26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Финал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832151" y="1644953"/>
            <a:ext cx="9560076" cy="4547808"/>
          </a:xfrm>
        </p:spPr>
        <p:txBody>
          <a:bodyPr>
            <a:normAutofit/>
          </a:bodyPr>
          <a:lstStyle>
            <a:lvl1pPr marL="0" indent="0" algn="l">
              <a:buFont typeface="Arial"/>
              <a:buNone/>
              <a:defRPr sz="2133"/>
            </a:lvl1pPr>
            <a:lvl2pPr marL="609585" indent="0">
              <a:buFontTx/>
              <a:buNone/>
              <a:defRPr sz="2133"/>
            </a:lvl2pPr>
            <a:lvl3pPr marL="1219170" indent="0">
              <a:buFontTx/>
              <a:buNone/>
              <a:defRPr sz="2133"/>
            </a:lvl3pPr>
            <a:lvl4pPr marL="1828754" indent="0">
              <a:buFontTx/>
              <a:buNone/>
              <a:defRPr sz="2133"/>
            </a:lvl4pPr>
            <a:lvl5pPr>
              <a:buFontTx/>
              <a:buNone/>
              <a:defRPr sz="2133"/>
            </a:lvl5pPr>
          </a:lstStyle>
          <a:p>
            <a:pPr>
              <a:defRPr/>
            </a:pPr>
            <a:r>
              <a:rPr lang="ru-RU" sz="2133">
                <a:latin typeface="Golos Text"/>
              </a:rPr>
              <a:t>Здесь при необходимости располагается основной текст слайда, ключевая формулировка</a:t>
            </a:r>
            <a:endParaRPr/>
          </a:p>
          <a:p>
            <a:pPr>
              <a:defRPr/>
            </a:pPr>
            <a:endParaRPr lang="ru-RU" sz="2133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2133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133" b="0" i="0">
                <a:solidFill>
                  <a:srgbClr val="2C2D2E"/>
                </a:solidFill>
                <a:latin typeface="Golos Text"/>
              </a:rPr>
              <a:t>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133" b="0" i="0">
                <a:solidFill>
                  <a:srgbClr val="2C2D2E"/>
                </a:solidFill>
                <a:latin typeface="Golos Text"/>
              </a:rPr>
              <a:t>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133" b="0" i="0">
                <a:solidFill>
                  <a:srgbClr val="2C2D2E"/>
                </a:solidFill>
                <a:latin typeface="Golos Text"/>
              </a:rPr>
              <a:t>конец списка.</a:t>
            </a:r>
            <a:endParaRPr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09600" y="408580"/>
            <a:ext cx="9099176" cy="703045"/>
          </a:xfrm>
        </p:spPr>
        <p:txBody>
          <a:bodyPr>
            <a:normAutofit/>
          </a:bodyPr>
          <a:lstStyle>
            <a:lvl1pPr>
              <a:defRPr sz="4267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50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jp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E5AEA5-4CD9-E9F2-8F50-4559197E9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3F99C-D57F-9E28-DF9D-88925031D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FA0D8-2F90-ED12-DCDF-288DDCC114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67917-FB6B-4472-8CD8-0A38A4C7AE01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2CAA2-998C-3E81-8C15-C01CDBAF9D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82F2F-D141-91A1-519F-AA54583F1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5C366E-0082-4081-A3CC-E5325DFE7D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0958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408579"/>
            <a:ext cx="10972800" cy="8273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495884"/>
            <a:ext cx="10972800" cy="3866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-1153401" y="551216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 sz="2400"/>
          </a:p>
        </p:txBody>
      </p:sp>
      <p:sp>
        <p:nvSpPr>
          <p:cNvPr id="5" name="TextBox 4"/>
          <p:cNvSpPr txBox="1"/>
          <p:nvPr userDrawn="1"/>
        </p:nvSpPr>
        <p:spPr bwMode="auto">
          <a:xfrm>
            <a:off x="-1153401" y="551216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891710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609585">
        <a:spcBef>
          <a:spcPts val="0"/>
        </a:spcBef>
        <a:buNone/>
        <a:defRPr sz="4800" b="1" i="0">
          <a:solidFill>
            <a:schemeClr val="tx1"/>
          </a:solidFill>
          <a:latin typeface="ALS Gorizont Bold Expanded"/>
          <a:ea typeface="+mj-ea"/>
          <a:cs typeface="+mj-cs"/>
        </a:defRPr>
      </a:lvl1pPr>
    </p:titleStyle>
    <p:bodyStyle>
      <a:lvl1pPr marL="0" indent="0" algn="l" defTabSz="609585">
        <a:spcBef>
          <a:spcPts val="0"/>
        </a:spcBef>
        <a:buSzPct val="100000"/>
        <a:buFont typeface="Arial"/>
        <a:buNone/>
        <a:defRPr sz="2667">
          <a:solidFill>
            <a:schemeClr val="tx1"/>
          </a:solidFill>
          <a:latin typeface="Golos Text"/>
          <a:ea typeface="+mn-ea"/>
          <a:cs typeface="Golos Text"/>
        </a:defRPr>
      </a:lvl1pPr>
      <a:lvl2pPr marL="990575" indent="-380990" algn="l" defTabSz="609585">
        <a:spcBef>
          <a:spcPts val="0"/>
        </a:spcBef>
        <a:buFont typeface="Arial"/>
        <a:buChar char="•"/>
        <a:defRPr sz="2667">
          <a:solidFill>
            <a:schemeClr val="tx1"/>
          </a:solidFill>
          <a:latin typeface="Golos Text"/>
          <a:ea typeface="+mn-ea"/>
          <a:cs typeface="Golos Text"/>
        </a:defRPr>
      </a:lvl2pPr>
      <a:lvl3pPr marL="1523962" indent="-304792" algn="l" defTabSz="609585">
        <a:spcBef>
          <a:spcPts val="0"/>
        </a:spcBef>
        <a:buFont typeface="Arial"/>
        <a:buChar char="•"/>
        <a:defRPr sz="2133">
          <a:solidFill>
            <a:schemeClr val="tx1"/>
          </a:solidFill>
          <a:latin typeface="Golos Text"/>
          <a:ea typeface="+mn-ea"/>
          <a:cs typeface="Golos Text"/>
        </a:defRPr>
      </a:lvl3pPr>
      <a:lvl4pPr marL="2133547" indent="-304792" algn="l" defTabSz="609585">
        <a:spcBef>
          <a:spcPts val="0"/>
        </a:spcBef>
        <a:buFont typeface="Arial"/>
        <a:buChar char="•"/>
        <a:defRPr sz="2133">
          <a:solidFill>
            <a:schemeClr val="tx1"/>
          </a:solidFill>
          <a:latin typeface="Golos Text"/>
          <a:ea typeface="+mn-ea"/>
          <a:cs typeface="Golos Text"/>
        </a:defRPr>
      </a:lvl4pPr>
      <a:lvl5pPr marL="2438339" indent="0" algn="l" defTabSz="609585">
        <a:spcBef>
          <a:spcPts val="0"/>
        </a:spcBef>
        <a:buFont typeface="Arial"/>
        <a:buNone/>
        <a:defRPr sz="2133">
          <a:solidFill>
            <a:schemeClr val="tx1"/>
          </a:solidFill>
          <a:latin typeface="Golos Text"/>
          <a:ea typeface="+mn-ea"/>
          <a:cs typeface="Golos Text"/>
        </a:defRPr>
      </a:lvl5pPr>
      <a:lvl6pPr marL="3352716" indent="-304792" algn="l" defTabSz="609585">
        <a:spcBef>
          <a:spcPts val="0"/>
        </a:spcBef>
        <a:buFont typeface="Arial"/>
        <a:buChar char="•"/>
        <a:defRPr sz="2667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>
        <a:spcBef>
          <a:spcPts val="0"/>
        </a:spcBef>
        <a:buFont typeface="Arial"/>
        <a:buChar char="•"/>
        <a:defRPr sz="2667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>
        <a:spcBef>
          <a:spcPts val="0"/>
        </a:spcBef>
        <a:buFont typeface="Arial"/>
        <a:buChar char="•"/>
        <a:defRPr sz="2667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>
        <a:spcBef>
          <a:spcPts val="0"/>
        </a:spcBef>
        <a:buFont typeface="Arial"/>
        <a:buChar char="•"/>
        <a:defRPr sz="26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>
        <a:defRPr sz="24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>
        <a:defRPr sz="24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>
        <a:defRPr sz="24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>
        <a:defRPr sz="24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>
        <a:defRPr sz="24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>
        <a:defRPr sz="24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627D087-D73F-854D-1816-083CD87C48C6}"/>
              </a:ext>
            </a:extLst>
          </p:cNvPr>
          <p:cNvSpPr/>
          <p:nvPr/>
        </p:nvSpPr>
        <p:spPr bwMode="auto">
          <a:xfrm rot="1412526">
            <a:off x="7554934" y="566471"/>
            <a:ext cx="3283700" cy="2146264"/>
          </a:xfrm>
          <a:prstGeom prst="triangle">
            <a:avLst/>
          </a:prstGeom>
          <a:noFill/>
          <a:ln w="31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defTabSz="609585">
              <a:buSzPct val="100000"/>
            </a:pPr>
            <a:endParaRPr lang="en-GB" sz="1867" kern="0" dirty="0">
              <a:solidFill>
                <a:srgbClr val="F8F8F8">
                  <a:lumMod val="25000"/>
                  <a:alpha val="50000"/>
                </a:srgbClr>
              </a:solidFill>
              <a:latin typeface="Yandex Sans Text Medium" pitchFamily="2" charset="-52"/>
              <a:cs typeface="Arial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 bwMode="auto">
          <a:xfrm>
            <a:off x="527051" y="1267153"/>
            <a:ext cx="8633205" cy="2528985"/>
          </a:xfrm>
          <a:solidFill>
            <a:srgbClr val="7451F4"/>
          </a:solidFill>
        </p:spPr>
        <p:txBody>
          <a:bodyPr>
            <a:noAutofit/>
          </a:bodyPr>
          <a:lstStyle/>
          <a:p>
            <a:pPr>
              <a:defRPr/>
            </a:pPr>
            <a:br>
              <a:rPr lang="ru-RU" sz="2933" b="0" dirty="0">
                <a:solidFill>
                  <a:schemeClr val="bg1"/>
                </a:solidFill>
                <a:latin typeface="Yandex Sans Text Bold" pitchFamily="2" charset="-52"/>
              </a:rPr>
            </a:br>
            <a:br>
              <a:rPr lang="ru-RU" sz="2933" b="0" dirty="0">
                <a:solidFill>
                  <a:schemeClr val="bg1"/>
                </a:solidFill>
                <a:latin typeface="Yandex Sans Text Bold" pitchFamily="2" charset="-52"/>
              </a:rPr>
            </a:br>
            <a:br>
              <a:rPr lang="ru-RU" sz="2933" b="0" dirty="0">
                <a:solidFill>
                  <a:schemeClr val="bg1"/>
                </a:solidFill>
                <a:latin typeface="Yandex Sans Text Bold" pitchFamily="2" charset="-52"/>
              </a:rPr>
            </a:br>
            <a:r>
              <a:rPr lang="ru-RU" sz="2933" b="0">
                <a:solidFill>
                  <a:schemeClr val="bg1"/>
                </a:solidFill>
                <a:latin typeface="Yandex Sans Text Bold" pitchFamily="2" charset="-52"/>
              </a:rPr>
              <a:t>Рекомендация публикационной стратегии </a:t>
            </a:r>
            <a:r>
              <a:rPr lang="ru-RU" sz="2933" b="0" dirty="0">
                <a:solidFill>
                  <a:schemeClr val="bg1"/>
                </a:solidFill>
                <a:latin typeface="Yandex Sans Text Bold" pitchFamily="2" charset="-52"/>
              </a:rPr>
              <a:t>карьерного сообщества</a:t>
            </a:r>
            <a:endParaRPr sz="2933" b="0" dirty="0">
              <a:solidFill>
                <a:schemeClr val="bg1"/>
              </a:solidFill>
              <a:latin typeface="Yandex Sans Text Bold" pitchFamily="2" charset="-52"/>
            </a:endParaRPr>
          </a:p>
        </p:txBody>
      </p:sp>
      <p:sp>
        <p:nvSpPr>
          <p:cNvPr id="536851120" name="TextBox 536851119"/>
          <p:cNvSpPr txBox="1"/>
          <p:nvPr/>
        </p:nvSpPr>
        <p:spPr bwMode="auto">
          <a:xfrm>
            <a:off x="527051" y="5479624"/>
            <a:ext cx="5241499" cy="636072"/>
          </a:xfrm>
          <a:prstGeom prst="rect">
            <a:avLst/>
          </a:prstGeom>
        </p:spPr>
        <p:txBody>
          <a:bodyPr vertOverflow="overflow" horzOverflow="overflow" vert="horz" wrap="none" lIns="121920" tIns="60960" rIns="121920" bIns="60960" numCol="1" spcCol="0" rtlCol="0" fromWordArt="0" anchor="b" anchorCtr="0" forceAA="0" compatLnSpc="0">
            <a:spAutoFit/>
          </a:bodyPr>
          <a:lstStyle/>
          <a:p>
            <a:pPr defTabSz="609585">
              <a:defRPr/>
            </a:pPr>
            <a:r>
              <a:rPr lang="ru-RU" sz="3200" kern="0" dirty="0">
                <a:solidFill>
                  <a:prstClr val="white"/>
                </a:solidFill>
                <a:latin typeface="Yandex Sans Text Medium" pitchFamily="2" charset="-52"/>
                <a:cs typeface="Golos Text DemiBold"/>
              </a:rPr>
              <a:t>Юхимец Олег Андреевич</a:t>
            </a:r>
            <a:endParaRPr sz="3200" kern="0" dirty="0">
              <a:solidFill>
                <a:prstClr val="white"/>
              </a:solidFill>
              <a:latin typeface="Yandex Sans Text Medium" pitchFamily="2" charset="-52"/>
              <a:cs typeface="Golos Text DemiBold"/>
            </a:endParaRPr>
          </a:p>
        </p:txBody>
      </p:sp>
      <p:sp>
        <p:nvSpPr>
          <p:cNvPr id="1809475875" name="TextBox 1809475874"/>
          <p:cNvSpPr txBox="1"/>
          <p:nvPr/>
        </p:nvSpPr>
        <p:spPr bwMode="auto">
          <a:xfrm>
            <a:off x="543219" y="6007100"/>
            <a:ext cx="3000372" cy="422423"/>
          </a:xfrm>
          <a:prstGeom prst="rect">
            <a:avLst/>
          </a:prstGeom>
        </p:spPr>
        <p:txBody>
          <a:bodyPr vertOverflow="overflow" horzOverflow="overflow" vert="horz" wrap="none" lIns="121920" tIns="60960" rIns="121920" bIns="60960" numCol="1" spcCol="0" rtlCol="0" fromWordArt="0" anchor="t" anchorCtr="0" forceAA="0" compatLnSpc="0">
            <a:spAutoFit/>
          </a:bodyPr>
          <a:lstStyle/>
          <a:p>
            <a:pPr algn="ctr" defTabSz="609585">
              <a:defRPr/>
            </a:pPr>
            <a:r>
              <a:rPr lang="ru-RU" sz="1867" kern="0" dirty="0">
                <a:solidFill>
                  <a:prstClr val="white">
                    <a:alpha val="30000"/>
                  </a:prstClr>
                </a:solidFill>
                <a:latin typeface="Yandex Sans Text Regular" pitchFamily="2" charset="-52"/>
                <a:ea typeface="Golos Text DemiBold"/>
                <a:cs typeface="Golos Text DemiBold"/>
              </a:rPr>
              <a:t>Санкт-Петербург 2026 г.</a:t>
            </a:r>
            <a:endParaRPr sz="1867" kern="0" dirty="0">
              <a:solidFill>
                <a:prstClr val="white">
                  <a:alpha val="30000"/>
                </a:prstClr>
              </a:solidFill>
              <a:latin typeface="Yandex Sans Text Regular" pitchFamily="2" charset="-52"/>
              <a:cs typeface="Golos Text DemiBold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0C611F5-40D8-7B09-38BD-91EEDC79930C}"/>
              </a:ext>
            </a:extLst>
          </p:cNvPr>
          <p:cNvCxnSpPr>
            <a:cxnSpLocks/>
          </p:cNvCxnSpPr>
          <p:nvPr/>
        </p:nvCxnSpPr>
        <p:spPr bwMode="auto">
          <a:xfrm>
            <a:off x="527051" y="1267152"/>
            <a:ext cx="0" cy="5042632"/>
          </a:xfrm>
          <a:prstGeom prst="line">
            <a:avLst/>
          </a:prstGeom>
          <a:ln w="3175">
            <a:solidFill>
              <a:srgbClr val="7451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928F35C-601B-4692-1F55-FEA61557C59B}"/>
              </a:ext>
            </a:extLst>
          </p:cNvPr>
          <p:cNvGrpSpPr/>
          <p:nvPr/>
        </p:nvGrpSpPr>
        <p:grpSpPr>
          <a:xfrm>
            <a:off x="654671" y="1398965"/>
            <a:ext cx="1812824" cy="586084"/>
            <a:chOff x="491003" y="1049223"/>
            <a:chExt cx="1359618" cy="439563"/>
          </a:xfrm>
          <a:solidFill>
            <a:schemeClr val="bg1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79296ED-5D99-2BFF-7633-8C5914378BEE}"/>
                </a:ext>
              </a:extLst>
            </p:cNvPr>
            <p:cNvSpPr/>
            <p:nvPr/>
          </p:nvSpPr>
          <p:spPr>
            <a:xfrm>
              <a:off x="1729709" y="1278672"/>
              <a:ext cx="120912" cy="149585"/>
            </a:xfrm>
            <a:custGeom>
              <a:avLst/>
              <a:gdLst>
                <a:gd name="csX0" fmla="*/ 120912 w 120912"/>
                <a:gd name="csY0" fmla="*/ 115519 h 149585"/>
                <a:gd name="csX1" fmla="*/ 27099 w 120912"/>
                <a:gd name="csY1" fmla="*/ 137785 h 149585"/>
                <a:gd name="csX2" fmla="*/ 21093 w 120912"/>
                <a:gd name="csY2" fmla="*/ 147116 h 149585"/>
                <a:gd name="csX3" fmla="*/ 0 w 120912"/>
                <a:gd name="csY3" fmla="*/ 147032 h 149585"/>
                <a:gd name="csX4" fmla="*/ 0 w 120912"/>
                <a:gd name="csY4" fmla="*/ 89538 h 149585"/>
                <a:gd name="csX5" fmla="*/ 27909 w 120912"/>
                <a:gd name="csY5" fmla="*/ 89538 h 149585"/>
                <a:gd name="csX6" fmla="*/ 80710 w 120912"/>
                <a:gd name="csY6" fmla="*/ 119012 h 149585"/>
                <a:gd name="csX7" fmla="*/ 84733 w 120912"/>
                <a:gd name="csY7" fmla="*/ 98729 h 149585"/>
                <a:gd name="csX8" fmla="*/ 6090 w 120912"/>
                <a:gd name="csY8" fmla="*/ 56600 h 149585"/>
                <a:gd name="csX9" fmla="*/ 90181 w 120912"/>
                <a:gd name="csY9" fmla="*/ 9833 h 149585"/>
                <a:gd name="csX10" fmla="*/ 94232 w 120912"/>
                <a:gd name="csY10" fmla="*/ 2290 h 149585"/>
                <a:gd name="csX11" fmla="*/ 115297 w 120912"/>
                <a:gd name="csY11" fmla="*/ 2374 h 149585"/>
                <a:gd name="csX12" fmla="*/ 115297 w 120912"/>
                <a:gd name="csY12" fmla="*/ 56153 h 149585"/>
                <a:gd name="csX13" fmla="*/ 87388 w 120912"/>
                <a:gd name="csY13" fmla="*/ 56153 h 149585"/>
                <a:gd name="csX14" fmla="*/ 40816 w 120912"/>
                <a:gd name="csY14" fmla="*/ 32881 h 149585"/>
                <a:gd name="csX15" fmla="*/ 88840 w 120912"/>
                <a:gd name="csY15" fmla="*/ 68613 h 149585"/>
                <a:gd name="csX16" fmla="*/ 120856 w 120912"/>
                <a:gd name="csY16" fmla="*/ 100657 h 149585"/>
                <a:gd name="csX17" fmla="*/ 120856 w 120912"/>
                <a:gd name="csY17" fmla="*/ 115491 h 1495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0912" h="149585">
                  <a:moveTo>
                    <a:pt x="120912" y="115519"/>
                  </a:moveTo>
                  <a:cubicBezTo>
                    <a:pt x="107083" y="153402"/>
                    <a:pt x="57495" y="157928"/>
                    <a:pt x="27099" y="137785"/>
                  </a:cubicBezTo>
                  <a:lnTo>
                    <a:pt x="21093" y="147116"/>
                  </a:lnTo>
                  <a:lnTo>
                    <a:pt x="0" y="147032"/>
                  </a:lnTo>
                  <a:lnTo>
                    <a:pt x="0" y="89538"/>
                  </a:lnTo>
                  <a:lnTo>
                    <a:pt x="27909" y="89538"/>
                  </a:lnTo>
                  <a:cubicBezTo>
                    <a:pt x="20897" y="117782"/>
                    <a:pt x="60568" y="130270"/>
                    <a:pt x="80710" y="119012"/>
                  </a:cubicBezTo>
                  <a:cubicBezTo>
                    <a:pt x="87555" y="115184"/>
                    <a:pt x="90125" y="104568"/>
                    <a:pt x="84733" y="98729"/>
                  </a:cubicBezTo>
                  <a:cubicBezTo>
                    <a:pt x="70625" y="83419"/>
                    <a:pt x="17852" y="90851"/>
                    <a:pt x="6090" y="56600"/>
                  </a:cubicBezTo>
                  <a:cubicBezTo>
                    <a:pt x="-10393" y="8660"/>
                    <a:pt x="56629" y="-14640"/>
                    <a:pt x="90181" y="9833"/>
                  </a:cubicBezTo>
                  <a:lnTo>
                    <a:pt x="94232" y="2290"/>
                  </a:lnTo>
                  <a:lnTo>
                    <a:pt x="115297" y="2374"/>
                  </a:lnTo>
                  <a:lnTo>
                    <a:pt x="115297" y="56153"/>
                  </a:lnTo>
                  <a:lnTo>
                    <a:pt x="87388" y="56153"/>
                  </a:lnTo>
                  <a:cubicBezTo>
                    <a:pt x="94791" y="29808"/>
                    <a:pt x="57467" y="17823"/>
                    <a:pt x="40816" y="32881"/>
                  </a:cubicBezTo>
                  <a:cubicBezTo>
                    <a:pt x="15086" y="56125"/>
                    <a:pt x="77777" y="64674"/>
                    <a:pt x="88840" y="68613"/>
                  </a:cubicBezTo>
                  <a:cubicBezTo>
                    <a:pt x="104932" y="74312"/>
                    <a:pt x="116135" y="83922"/>
                    <a:pt x="120856" y="100657"/>
                  </a:cubicBezTo>
                  <a:lnTo>
                    <a:pt x="120856" y="115491"/>
                  </a:lnTo>
                  <a:close/>
                </a:path>
              </a:pathLst>
            </a:custGeom>
            <a:grpFill/>
            <a:ln w="2777" cap="flat">
              <a:noFill/>
              <a:prstDash val="solid"/>
              <a:miter/>
            </a:ln>
          </p:spPr>
          <p:txBody>
            <a:bodyPr/>
            <a:lstStyle/>
            <a:p>
              <a:pPr defTabSz="609585"/>
              <a:endParaRPr lang="en-GB" sz="2400" kern="0">
                <a:solidFill>
                  <a:prstClr val="black"/>
                </a:solidFill>
                <a:latin typeface="Calibri"/>
                <a:cs typeface="Arial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70EC4A1-E13A-C6AA-C598-34EAB1287392}"/>
                </a:ext>
              </a:extLst>
            </p:cNvPr>
            <p:cNvSpPr/>
            <p:nvPr/>
          </p:nvSpPr>
          <p:spPr>
            <a:xfrm>
              <a:off x="491003" y="1090039"/>
              <a:ext cx="314321" cy="324546"/>
            </a:xfrm>
            <a:custGeom>
              <a:avLst/>
              <a:gdLst>
                <a:gd name="csX0" fmla="*/ 314321 w 314321"/>
                <a:gd name="csY0" fmla="*/ 0 h 324546"/>
                <a:gd name="csX1" fmla="*/ 262246 w 314321"/>
                <a:gd name="csY1" fmla="*/ 105714 h 324546"/>
                <a:gd name="csX2" fmla="*/ 314321 w 314321"/>
                <a:gd name="csY2" fmla="*/ 105714 h 324546"/>
                <a:gd name="csX3" fmla="*/ 260403 w 314321"/>
                <a:gd name="csY3" fmla="*/ 215116 h 324546"/>
                <a:gd name="csX4" fmla="*/ 314321 w 314321"/>
                <a:gd name="csY4" fmla="*/ 215116 h 324546"/>
                <a:gd name="csX5" fmla="*/ 260403 w 314321"/>
                <a:gd name="csY5" fmla="*/ 324546 h 324546"/>
                <a:gd name="csX6" fmla="*/ 1872 w 314321"/>
                <a:gd name="csY6" fmla="*/ 324546 h 324546"/>
                <a:gd name="csX7" fmla="*/ 59506 w 314321"/>
                <a:gd name="csY7" fmla="*/ 216988 h 324546"/>
                <a:gd name="csX8" fmla="*/ 1872 w 314321"/>
                <a:gd name="csY8" fmla="*/ 216988 h 324546"/>
                <a:gd name="csX9" fmla="*/ 57662 w 314321"/>
                <a:gd name="csY9" fmla="*/ 111274 h 324546"/>
                <a:gd name="csX10" fmla="*/ 0 w 314321"/>
                <a:gd name="csY10" fmla="*/ 111274 h 324546"/>
                <a:gd name="csX11" fmla="*/ 62300 w 314321"/>
                <a:gd name="csY11" fmla="*/ 0 h 324546"/>
                <a:gd name="csX12" fmla="*/ 314321 w 314321"/>
                <a:gd name="csY12" fmla="*/ 0 h 3245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314321" h="324546">
                  <a:moveTo>
                    <a:pt x="314321" y="0"/>
                  </a:moveTo>
                  <a:lnTo>
                    <a:pt x="262246" y="105714"/>
                  </a:lnTo>
                  <a:lnTo>
                    <a:pt x="314321" y="105714"/>
                  </a:lnTo>
                  <a:lnTo>
                    <a:pt x="260403" y="215116"/>
                  </a:lnTo>
                  <a:lnTo>
                    <a:pt x="314321" y="215116"/>
                  </a:lnTo>
                  <a:lnTo>
                    <a:pt x="260403" y="324546"/>
                  </a:lnTo>
                  <a:lnTo>
                    <a:pt x="1872" y="324546"/>
                  </a:lnTo>
                  <a:lnTo>
                    <a:pt x="59506" y="216988"/>
                  </a:lnTo>
                  <a:lnTo>
                    <a:pt x="1872" y="216988"/>
                  </a:lnTo>
                  <a:lnTo>
                    <a:pt x="57662" y="111274"/>
                  </a:lnTo>
                  <a:lnTo>
                    <a:pt x="0" y="111274"/>
                  </a:lnTo>
                  <a:lnTo>
                    <a:pt x="62300" y="0"/>
                  </a:lnTo>
                  <a:lnTo>
                    <a:pt x="314321" y="0"/>
                  </a:lnTo>
                  <a:close/>
                </a:path>
              </a:pathLst>
            </a:custGeom>
            <a:grpFill/>
            <a:ln w="2777" cap="flat">
              <a:noFill/>
              <a:prstDash val="solid"/>
              <a:miter/>
            </a:ln>
          </p:spPr>
          <p:txBody>
            <a:bodyPr/>
            <a:lstStyle/>
            <a:p>
              <a:pPr defTabSz="609585"/>
              <a:endParaRPr lang="en-GB" sz="2400" kern="0">
                <a:solidFill>
                  <a:prstClr val="black"/>
                </a:solidFill>
                <a:latin typeface="Calibri"/>
                <a:cs typeface="Arial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65C149C-FAA1-7693-2A17-9FEE45B3F321}"/>
                </a:ext>
              </a:extLst>
            </p:cNvPr>
            <p:cNvSpPr/>
            <p:nvPr/>
          </p:nvSpPr>
          <p:spPr>
            <a:xfrm>
              <a:off x="1194042" y="1278730"/>
              <a:ext cx="157338" cy="210056"/>
            </a:xfrm>
            <a:custGeom>
              <a:avLst/>
              <a:gdLst>
                <a:gd name="csX0" fmla="*/ 50231 w 157338"/>
                <a:gd name="csY0" fmla="*/ 134011 h 210056"/>
                <a:gd name="csX1" fmla="*/ 50231 w 157338"/>
                <a:gd name="csY1" fmla="*/ 182231 h 210056"/>
                <a:gd name="csX2" fmla="*/ 70430 w 157338"/>
                <a:gd name="csY2" fmla="*/ 186198 h 210056"/>
                <a:gd name="csX3" fmla="*/ 70681 w 157338"/>
                <a:gd name="csY3" fmla="*/ 210056 h 210056"/>
                <a:gd name="csX4" fmla="*/ 0 w 157338"/>
                <a:gd name="csY4" fmla="*/ 210056 h 210056"/>
                <a:gd name="csX5" fmla="*/ 251 w 157338"/>
                <a:gd name="csY5" fmla="*/ 186198 h 210056"/>
                <a:gd name="csX6" fmla="*/ 17517 w 157338"/>
                <a:gd name="csY6" fmla="*/ 182454 h 210056"/>
                <a:gd name="csX7" fmla="*/ 18606 w 157338"/>
                <a:gd name="csY7" fmla="*/ 32934 h 210056"/>
                <a:gd name="csX8" fmla="*/ 84 w 157338"/>
                <a:gd name="csY8" fmla="*/ 26369 h 210056"/>
                <a:gd name="csX9" fmla="*/ 0 w 157338"/>
                <a:gd name="csY9" fmla="*/ 2343 h 210056"/>
                <a:gd name="csX10" fmla="*/ 48359 w 157338"/>
                <a:gd name="csY10" fmla="*/ 2343 h 210056"/>
                <a:gd name="csX11" fmla="*/ 48359 w 157338"/>
                <a:gd name="csY11" fmla="*/ 17178 h 210056"/>
                <a:gd name="csX12" fmla="*/ 153068 w 157338"/>
                <a:gd name="csY12" fmla="*/ 45367 h 210056"/>
                <a:gd name="csX13" fmla="*/ 50203 w 157338"/>
                <a:gd name="csY13" fmla="*/ 134011 h 210056"/>
                <a:gd name="csX14" fmla="*/ 112810 w 157338"/>
                <a:gd name="csY14" fmla="*/ 114790 h 210056"/>
                <a:gd name="csX15" fmla="*/ 102306 w 157338"/>
                <a:gd name="csY15" fmla="*/ 27375 h 210056"/>
                <a:gd name="csX16" fmla="*/ 58724 w 157338"/>
                <a:gd name="csY16" fmla="*/ 111634 h 210056"/>
                <a:gd name="csX17" fmla="*/ 112810 w 157338"/>
                <a:gd name="csY17" fmla="*/ 114790 h 2100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57338" h="210056">
                  <a:moveTo>
                    <a:pt x="50231" y="134011"/>
                  </a:moveTo>
                  <a:lnTo>
                    <a:pt x="50231" y="182231"/>
                  </a:lnTo>
                  <a:lnTo>
                    <a:pt x="70430" y="186198"/>
                  </a:lnTo>
                  <a:lnTo>
                    <a:pt x="70681" y="210056"/>
                  </a:lnTo>
                  <a:lnTo>
                    <a:pt x="0" y="210056"/>
                  </a:lnTo>
                  <a:lnTo>
                    <a:pt x="251" y="186198"/>
                  </a:lnTo>
                  <a:lnTo>
                    <a:pt x="17517" y="182454"/>
                  </a:lnTo>
                  <a:lnTo>
                    <a:pt x="18606" y="32934"/>
                  </a:lnTo>
                  <a:cubicBezTo>
                    <a:pt x="18774" y="25755"/>
                    <a:pt x="1760" y="28073"/>
                    <a:pt x="84" y="26369"/>
                  </a:cubicBezTo>
                  <a:lnTo>
                    <a:pt x="0" y="2343"/>
                  </a:lnTo>
                  <a:lnTo>
                    <a:pt x="48359" y="2343"/>
                  </a:lnTo>
                  <a:lnTo>
                    <a:pt x="48359" y="17178"/>
                  </a:lnTo>
                  <a:cubicBezTo>
                    <a:pt x="81968" y="-15481"/>
                    <a:pt x="139574" y="918"/>
                    <a:pt x="153068" y="45367"/>
                  </a:cubicBezTo>
                  <a:cubicBezTo>
                    <a:pt x="173797" y="113701"/>
                    <a:pt x="115772" y="180387"/>
                    <a:pt x="50203" y="134011"/>
                  </a:cubicBezTo>
                  <a:close/>
                  <a:moveTo>
                    <a:pt x="112810" y="114790"/>
                  </a:moveTo>
                  <a:cubicBezTo>
                    <a:pt x="131668" y="95989"/>
                    <a:pt x="129908" y="38438"/>
                    <a:pt x="102306" y="27375"/>
                  </a:cubicBezTo>
                  <a:cubicBezTo>
                    <a:pt x="52382" y="7344"/>
                    <a:pt x="35285" y="79729"/>
                    <a:pt x="58724" y="111634"/>
                  </a:cubicBezTo>
                  <a:cubicBezTo>
                    <a:pt x="70877" y="128172"/>
                    <a:pt x="98507" y="129038"/>
                    <a:pt x="112810" y="114790"/>
                  </a:cubicBezTo>
                  <a:close/>
                </a:path>
              </a:pathLst>
            </a:custGeom>
            <a:grpFill/>
            <a:ln w="2777" cap="flat">
              <a:noFill/>
              <a:prstDash val="solid"/>
              <a:miter/>
            </a:ln>
          </p:spPr>
          <p:txBody>
            <a:bodyPr/>
            <a:lstStyle/>
            <a:p>
              <a:pPr defTabSz="609585"/>
              <a:endParaRPr lang="en-GB" sz="2400" kern="0">
                <a:solidFill>
                  <a:prstClr val="black"/>
                </a:solidFill>
                <a:latin typeface="Calibri"/>
                <a:cs typeface="Arial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D96599E-C229-BAD4-ACC2-5DF004951CC2}"/>
                </a:ext>
              </a:extLst>
            </p:cNvPr>
            <p:cNvSpPr/>
            <p:nvPr/>
          </p:nvSpPr>
          <p:spPr>
            <a:xfrm>
              <a:off x="1032202" y="1281045"/>
              <a:ext cx="150721" cy="144686"/>
            </a:xfrm>
            <a:custGeom>
              <a:avLst/>
              <a:gdLst>
                <a:gd name="csX0" fmla="*/ 66993 w 150721"/>
                <a:gd name="csY0" fmla="*/ 0 h 144686"/>
                <a:gd name="csX1" fmla="*/ 66882 w 150721"/>
                <a:gd name="csY1" fmla="*/ 24026 h 144686"/>
                <a:gd name="csX2" fmla="*/ 55846 w 150721"/>
                <a:gd name="csY2" fmla="*/ 26876 h 144686"/>
                <a:gd name="csX3" fmla="*/ 80934 w 150721"/>
                <a:gd name="csY3" fmla="*/ 55651 h 144686"/>
                <a:gd name="csX4" fmla="*/ 100490 w 150721"/>
                <a:gd name="csY4" fmla="*/ 26876 h 144686"/>
                <a:gd name="csX5" fmla="*/ 89455 w 150721"/>
                <a:gd name="csY5" fmla="*/ 24026 h 144686"/>
                <a:gd name="csX6" fmla="*/ 89343 w 150721"/>
                <a:gd name="csY6" fmla="*/ 0 h 144686"/>
                <a:gd name="csX7" fmla="*/ 150721 w 150721"/>
                <a:gd name="csY7" fmla="*/ 0 h 144686"/>
                <a:gd name="csX8" fmla="*/ 150721 w 150721"/>
                <a:gd name="csY8" fmla="*/ 24082 h 144686"/>
                <a:gd name="csX9" fmla="*/ 130131 w 150721"/>
                <a:gd name="csY9" fmla="*/ 28608 h 144686"/>
                <a:gd name="csX10" fmla="*/ 97054 w 150721"/>
                <a:gd name="csY10" fmla="*/ 75430 h 144686"/>
                <a:gd name="csX11" fmla="*/ 132981 w 150721"/>
                <a:gd name="csY11" fmla="*/ 116917 h 144686"/>
                <a:gd name="csX12" fmla="*/ 150637 w 150721"/>
                <a:gd name="csY12" fmla="*/ 120633 h 144686"/>
                <a:gd name="csX13" fmla="*/ 150721 w 150721"/>
                <a:gd name="csY13" fmla="*/ 144659 h 144686"/>
                <a:gd name="csX14" fmla="*/ 83756 w 150721"/>
                <a:gd name="csY14" fmla="*/ 144659 h 144686"/>
                <a:gd name="csX15" fmla="*/ 83839 w 150721"/>
                <a:gd name="csY15" fmla="*/ 120633 h 144686"/>
                <a:gd name="csX16" fmla="*/ 96746 w 150721"/>
                <a:gd name="csY16" fmla="*/ 117783 h 144686"/>
                <a:gd name="csX17" fmla="*/ 74397 w 150721"/>
                <a:gd name="csY17" fmla="*/ 87164 h 144686"/>
                <a:gd name="csX18" fmla="*/ 50259 w 150721"/>
                <a:gd name="csY18" fmla="*/ 117783 h 144686"/>
                <a:gd name="csX19" fmla="*/ 62440 w 150721"/>
                <a:gd name="csY19" fmla="*/ 122309 h 144686"/>
                <a:gd name="csX20" fmla="*/ 63250 w 150721"/>
                <a:gd name="csY20" fmla="*/ 144687 h 144686"/>
                <a:gd name="csX21" fmla="*/ 0 w 150721"/>
                <a:gd name="csY21" fmla="*/ 144687 h 144686"/>
                <a:gd name="csX22" fmla="*/ 0 w 150721"/>
                <a:gd name="csY22" fmla="*/ 120605 h 144686"/>
                <a:gd name="csX23" fmla="*/ 20618 w 150721"/>
                <a:gd name="csY23" fmla="*/ 116107 h 144686"/>
                <a:gd name="csX24" fmla="*/ 55539 w 150721"/>
                <a:gd name="csY24" fmla="*/ 69256 h 144686"/>
                <a:gd name="csX25" fmla="*/ 19612 w 150721"/>
                <a:gd name="csY25" fmla="*/ 27770 h 144686"/>
                <a:gd name="csX26" fmla="*/ 0 w 150721"/>
                <a:gd name="csY26" fmla="*/ 24138 h 144686"/>
                <a:gd name="csX27" fmla="*/ 0 w 150721"/>
                <a:gd name="csY27" fmla="*/ 56 h 144686"/>
                <a:gd name="csX28" fmla="*/ 66937 w 150721"/>
                <a:gd name="csY28" fmla="*/ 56 h 1446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50721" h="144686">
                  <a:moveTo>
                    <a:pt x="66993" y="0"/>
                  </a:moveTo>
                  <a:lnTo>
                    <a:pt x="66882" y="24026"/>
                  </a:lnTo>
                  <a:lnTo>
                    <a:pt x="55846" y="26876"/>
                  </a:lnTo>
                  <a:lnTo>
                    <a:pt x="80934" y="55651"/>
                  </a:lnTo>
                  <a:lnTo>
                    <a:pt x="100490" y="26876"/>
                  </a:lnTo>
                  <a:lnTo>
                    <a:pt x="89455" y="24026"/>
                  </a:lnTo>
                  <a:lnTo>
                    <a:pt x="89343" y="0"/>
                  </a:lnTo>
                  <a:lnTo>
                    <a:pt x="150721" y="0"/>
                  </a:lnTo>
                  <a:lnTo>
                    <a:pt x="150721" y="24082"/>
                  </a:lnTo>
                  <a:cubicBezTo>
                    <a:pt x="144016" y="24473"/>
                    <a:pt x="135663" y="24696"/>
                    <a:pt x="130131" y="28608"/>
                  </a:cubicBezTo>
                  <a:cubicBezTo>
                    <a:pt x="127142" y="30703"/>
                    <a:pt x="97333" y="72581"/>
                    <a:pt x="97054" y="75430"/>
                  </a:cubicBezTo>
                  <a:lnTo>
                    <a:pt x="132981" y="116917"/>
                  </a:lnTo>
                  <a:lnTo>
                    <a:pt x="150637" y="120633"/>
                  </a:lnTo>
                  <a:lnTo>
                    <a:pt x="150721" y="144659"/>
                  </a:lnTo>
                  <a:lnTo>
                    <a:pt x="83756" y="144659"/>
                  </a:lnTo>
                  <a:lnTo>
                    <a:pt x="83839" y="120633"/>
                  </a:lnTo>
                  <a:lnTo>
                    <a:pt x="96746" y="117783"/>
                  </a:lnTo>
                  <a:lnTo>
                    <a:pt x="74397" y="87164"/>
                  </a:lnTo>
                  <a:lnTo>
                    <a:pt x="50259" y="117783"/>
                  </a:lnTo>
                  <a:lnTo>
                    <a:pt x="62440" y="122309"/>
                  </a:lnTo>
                  <a:lnTo>
                    <a:pt x="63250" y="144687"/>
                  </a:lnTo>
                  <a:lnTo>
                    <a:pt x="0" y="144687"/>
                  </a:lnTo>
                  <a:lnTo>
                    <a:pt x="0" y="120605"/>
                  </a:lnTo>
                  <a:cubicBezTo>
                    <a:pt x="6258" y="120130"/>
                    <a:pt x="15701" y="120046"/>
                    <a:pt x="20618" y="116107"/>
                  </a:cubicBezTo>
                  <a:cubicBezTo>
                    <a:pt x="23383" y="113900"/>
                    <a:pt x="55288" y="72162"/>
                    <a:pt x="55539" y="69256"/>
                  </a:cubicBezTo>
                  <a:lnTo>
                    <a:pt x="19612" y="27770"/>
                  </a:lnTo>
                  <a:lnTo>
                    <a:pt x="0" y="24138"/>
                  </a:lnTo>
                  <a:lnTo>
                    <a:pt x="0" y="56"/>
                  </a:lnTo>
                  <a:cubicBezTo>
                    <a:pt x="0" y="56"/>
                    <a:pt x="66937" y="56"/>
                    <a:pt x="66937" y="56"/>
                  </a:cubicBezTo>
                  <a:close/>
                </a:path>
              </a:pathLst>
            </a:custGeom>
            <a:grpFill/>
            <a:ln w="2777" cap="flat">
              <a:noFill/>
              <a:prstDash val="solid"/>
              <a:miter/>
            </a:ln>
          </p:spPr>
          <p:txBody>
            <a:bodyPr/>
            <a:lstStyle/>
            <a:p>
              <a:pPr defTabSz="609585"/>
              <a:endParaRPr lang="en-GB" sz="2400" kern="0">
                <a:solidFill>
                  <a:prstClr val="black"/>
                </a:solidFill>
                <a:latin typeface="Calibri"/>
                <a:cs typeface="Arial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5597090-AD14-CF67-4949-67F357D79E6E}"/>
                </a:ext>
              </a:extLst>
            </p:cNvPr>
            <p:cNvSpPr/>
            <p:nvPr/>
          </p:nvSpPr>
          <p:spPr>
            <a:xfrm>
              <a:off x="885505" y="1278933"/>
              <a:ext cx="138567" cy="149434"/>
            </a:xfrm>
            <a:custGeom>
              <a:avLst/>
              <a:gdLst>
                <a:gd name="csX0" fmla="*/ 33272 w 138567"/>
                <a:gd name="csY0" fmla="*/ 81873 h 149434"/>
                <a:gd name="csX1" fmla="*/ 118871 w 138567"/>
                <a:gd name="csY1" fmla="*/ 94864 h 149434"/>
                <a:gd name="csX2" fmla="*/ 138455 w 138567"/>
                <a:gd name="csY2" fmla="*/ 111514 h 149434"/>
                <a:gd name="csX3" fmla="*/ 138567 w 138567"/>
                <a:gd name="csY3" fmla="*/ 113498 h 149434"/>
                <a:gd name="csX4" fmla="*/ 2485 w 138567"/>
                <a:gd name="csY4" fmla="*/ 53964 h 149434"/>
                <a:gd name="csX5" fmla="*/ 135131 w 138567"/>
                <a:gd name="csY5" fmla="*/ 51729 h 149434"/>
                <a:gd name="csX6" fmla="*/ 134628 w 138567"/>
                <a:gd name="csY6" fmla="*/ 81901 h 149434"/>
                <a:gd name="csX7" fmla="*/ 33272 w 138567"/>
                <a:gd name="csY7" fmla="*/ 81901 h 149434"/>
                <a:gd name="csX8" fmla="*/ 103953 w 138567"/>
                <a:gd name="csY8" fmla="*/ 55919 h 149434"/>
                <a:gd name="csX9" fmla="*/ 35144 w 138567"/>
                <a:gd name="csY9" fmla="*/ 55919 h 149434"/>
                <a:gd name="csX10" fmla="*/ 103953 w 138567"/>
                <a:gd name="csY10" fmla="*/ 55919 h 1494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8567" h="149434">
                  <a:moveTo>
                    <a:pt x="33272" y="81873"/>
                  </a:moveTo>
                  <a:cubicBezTo>
                    <a:pt x="37267" y="129422"/>
                    <a:pt x="98589" y="133249"/>
                    <a:pt x="118871" y="94864"/>
                  </a:cubicBezTo>
                  <a:lnTo>
                    <a:pt x="138455" y="111514"/>
                  </a:lnTo>
                  <a:lnTo>
                    <a:pt x="138567" y="113498"/>
                  </a:lnTo>
                  <a:cubicBezTo>
                    <a:pt x="89817" y="184598"/>
                    <a:pt x="-17658" y="142580"/>
                    <a:pt x="2485" y="53964"/>
                  </a:cubicBezTo>
                  <a:cubicBezTo>
                    <a:pt x="18046" y="-14566"/>
                    <a:pt x="120631" y="-20545"/>
                    <a:pt x="135131" y="51729"/>
                  </a:cubicBezTo>
                  <a:cubicBezTo>
                    <a:pt x="136611" y="59048"/>
                    <a:pt x="139098" y="76174"/>
                    <a:pt x="134628" y="81901"/>
                  </a:cubicBezTo>
                  <a:lnTo>
                    <a:pt x="33272" y="81901"/>
                  </a:lnTo>
                  <a:close/>
                  <a:moveTo>
                    <a:pt x="103953" y="55919"/>
                  </a:moveTo>
                  <a:cubicBezTo>
                    <a:pt x="102835" y="15634"/>
                    <a:pt x="38021" y="18958"/>
                    <a:pt x="35144" y="55919"/>
                  </a:cubicBezTo>
                  <a:lnTo>
                    <a:pt x="103953" y="55919"/>
                  </a:lnTo>
                  <a:close/>
                </a:path>
              </a:pathLst>
            </a:custGeom>
            <a:grpFill/>
            <a:ln w="2777" cap="flat">
              <a:noFill/>
              <a:prstDash val="solid"/>
              <a:miter/>
            </a:ln>
          </p:spPr>
          <p:txBody>
            <a:bodyPr/>
            <a:lstStyle/>
            <a:p>
              <a:pPr defTabSz="609585"/>
              <a:endParaRPr lang="en-GB" sz="2400" kern="0">
                <a:solidFill>
                  <a:prstClr val="black"/>
                </a:solidFill>
                <a:latin typeface="Calibri"/>
                <a:cs typeface="Arial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E55A5AE-8BE4-D719-59FD-F70903404C42}"/>
                </a:ext>
              </a:extLst>
            </p:cNvPr>
            <p:cNvSpPr/>
            <p:nvPr/>
          </p:nvSpPr>
          <p:spPr>
            <a:xfrm>
              <a:off x="1364134" y="1278749"/>
              <a:ext cx="136663" cy="150046"/>
            </a:xfrm>
            <a:custGeom>
              <a:avLst/>
              <a:gdLst>
                <a:gd name="csX0" fmla="*/ 134954 w 136663"/>
                <a:gd name="csY0" fmla="*/ 82057 h 150046"/>
                <a:gd name="csX1" fmla="*/ 32648 w 136663"/>
                <a:gd name="csY1" fmla="*/ 82057 h 150046"/>
                <a:gd name="csX2" fmla="*/ 107073 w 136663"/>
                <a:gd name="csY2" fmla="*/ 108960 h 150046"/>
                <a:gd name="csX3" fmla="*/ 117382 w 136663"/>
                <a:gd name="csY3" fmla="*/ 96975 h 150046"/>
                <a:gd name="csX4" fmla="*/ 121991 w 136663"/>
                <a:gd name="csY4" fmla="*/ 95886 h 150046"/>
                <a:gd name="csX5" fmla="*/ 136547 w 136663"/>
                <a:gd name="csY5" fmla="*/ 115945 h 150046"/>
                <a:gd name="csX6" fmla="*/ 100061 w 136663"/>
                <a:gd name="csY6" fmla="*/ 144608 h 150046"/>
                <a:gd name="csX7" fmla="*/ 80086 w 136663"/>
                <a:gd name="csY7" fmla="*/ 480 h 150046"/>
                <a:gd name="csX8" fmla="*/ 134982 w 136663"/>
                <a:gd name="csY8" fmla="*/ 53309 h 150046"/>
                <a:gd name="csX9" fmla="*/ 134982 w 136663"/>
                <a:gd name="csY9" fmla="*/ 82057 h 150046"/>
                <a:gd name="csX10" fmla="*/ 103329 w 136663"/>
                <a:gd name="csY10" fmla="*/ 56103 h 150046"/>
                <a:gd name="csX11" fmla="*/ 34520 w 136663"/>
                <a:gd name="csY11" fmla="*/ 56103 h 150046"/>
                <a:gd name="csX12" fmla="*/ 103329 w 136663"/>
                <a:gd name="csY12" fmla="*/ 56103 h 1500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36663" h="150046">
                  <a:moveTo>
                    <a:pt x="134954" y="82057"/>
                  </a:moveTo>
                  <a:lnTo>
                    <a:pt x="32648" y="82057"/>
                  </a:lnTo>
                  <a:cubicBezTo>
                    <a:pt x="35442" y="121141"/>
                    <a:pt x="78828" y="132735"/>
                    <a:pt x="107073" y="108960"/>
                  </a:cubicBezTo>
                  <a:cubicBezTo>
                    <a:pt x="111431" y="105301"/>
                    <a:pt x="114225" y="99881"/>
                    <a:pt x="117382" y="96975"/>
                  </a:cubicBezTo>
                  <a:cubicBezTo>
                    <a:pt x="119365" y="95131"/>
                    <a:pt x="118890" y="94265"/>
                    <a:pt x="121991" y="95886"/>
                  </a:cubicBezTo>
                  <a:cubicBezTo>
                    <a:pt x="126014" y="98009"/>
                    <a:pt x="137971" y="110804"/>
                    <a:pt x="136547" y="115945"/>
                  </a:cubicBezTo>
                  <a:cubicBezTo>
                    <a:pt x="133669" y="126198"/>
                    <a:pt x="110062" y="141256"/>
                    <a:pt x="100061" y="144608"/>
                  </a:cubicBezTo>
                  <a:cubicBezTo>
                    <a:pt x="-19930" y="184754"/>
                    <a:pt x="-38564" y="-10918"/>
                    <a:pt x="80086" y="480"/>
                  </a:cubicBezTo>
                  <a:cubicBezTo>
                    <a:pt x="104000" y="2771"/>
                    <a:pt x="134982" y="28501"/>
                    <a:pt x="134982" y="53309"/>
                  </a:cubicBezTo>
                  <a:lnTo>
                    <a:pt x="134982" y="82057"/>
                  </a:lnTo>
                  <a:close/>
                  <a:moveTo>
                    <a:pt x="103329" y="56103"/>
                  </a:moveTo>
                  <a:cubicBezTo>
                    <a:pt x="101290" y="16460"/>
                    <a:pt x="37649" y="18611"/>
                    <a:pt x="34520" y="56103"/>
                  </a:cubicBezTo>
                  <a:lnTo>
                    <a:pt x="103329" y="56103"/>
                  </a:lnTo>
                  <a:close/>
                </a:path>
              </a:pathLst>
            </a:custGeom>
            <a:grpFill/>
            <a:ln w="2777" cap="flat">
              <a:noFill/>
              <a:prstDash val="solid"/>
              <a:miter/>
            </a:ln>
          </p:spPr>
          <p:txBody>
            <a:bodyPr/>
            <a:lstStyle/>
            <a:p>
              <a:pPr defTabSz="609585"/>
              <a:endParaRPr lang="en-GB" sz="2400" kern="0">
                <a:solidFill>
                  <a:prstClr val="black"/>
                </a:solidFill>
                <a:latin typeface="Calibri"/>
                <a:cs typeface="Arial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6FAB517-5DBE-5424-F9AA-C3BDCD8C1863}"/>
                </a:ext>
              </a:extLst>
            </p:cNvPr>
            <p:cNvSpPr/>
            <p:nvPr/>
          </p:nvSpPr>
          <p:spPr>
            <a:xfrm>
              <a:off x="1623716" y="1249532"/>
              <a:ext cx="91131" cy="178475"/>
            </a:xfrm>
            <a:custGeom>
              <a:avLst/>
              <a:gdLst>
                <a:gd name="csX0" fmla="*/ 52075 w 91131"/>
                <a:gd name="csY0" fmla="*/ 0 h 178475"/>
                <a:gd name="csX1" fmla="*/ 52075 w 91131"/>
                <a:gd name="csY1" fmla="*/ 35229 h 178475"/>
                <a:gd name="csX2" fmla="*/ 91131 w 91131"/>
                <a:gd name="csY2" fmla="*/ 35229 h 178475"/>
                <a:gd name="csX3" fmla="*/ 91131 w 91131"/>
                <a:gd name="csY3" fmla="*/ 63054 h 178475"/>
                <a:gd name="csX4" fmla="*/ 52075 w 91131"/>
                <a:gd name="csY4" fmla="*/ 63054 h 178475"/>
                <a:gd name="csX5" fmla="*/ 52075 w 91131"/>
                <a:gd name="csY5" fmla="*/ 136306 h 178475"/>
                <a:gd name="csX6" fmla="*/ 57579 w 91131"/>
                <a:gd name="csY6" fmla="*/ 145665 h 178475"/>
                <a:gd name="csX7" fmla="*/ 89287 w 91131"/>
                <a:gd name="csY7" fmla="*/ 148374 h 178475"/>
                <a:gd name="csX8" fmla="*/ 89287 w 91131"/>
                <a:gd name="csY8" fmla="*/ 176200 h 178475"/>
                <a:gd name="csX9" fmla="*/ 28971 w 91131"/>
                <a:gd name="csY9" fmla="*/ 159382 h 178475"/>
                <a:gd name="csX10" fmla="*/ 20478 w 91131"/>
                <a:gd name="csY10" fmla="*/ 140021 h 178475"/>
                <a:gd name="csX11" fmla="*/ 20478 w 91131"/>
                <a:gd name="csY11" fmla="*/ 63054 h 178475"/>
                <a:gd name="csX12" fmla="*/ 0 w 91131"/>
                <a:gd name="csY12" fmla="*/ 63054 h 178475"/>
                <a:gd name="csX13" fmla="*/ 810 w 91131"/>
                <a:gd name="csY13" fmla="*/ 36961 h 178475"/>
                <a:gd name="csX14" fmla="*/ 20450 w 91131"/>
                <a:gd name="csY14" fmla="*/ 35229 h 178475"/>
                <a:gd name="csX15" fmla="*/ 20450 w 91131"/>
                <a:gd name="csY15" fmla="*/ 0 h 178475"/>
                <a:gd name="csX16" fmla="*/ 52075 w 91131"/>
                <a:gd name="csY16" fmla="*/ 0 h 1784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91131" h="178475">
                  <a:moveTo>
                    <a:pt x="52075" y="0"/>
                  </a:moveTo>
                  <a:lnTo>
                    <a:pt x="52075" y="35229"/>
                  </a:lnTo>
                  <a:lnTo>
                    <a:pt x="91131" y="35229"/>
                  </a:lnTo>
                  <a:lnTo>
                    <a:pt x="91131" y="63054"/>
                  </a:lnTo>
                  <a:lnTo>
                    <a:pt x="52075" y="63054"/>
                  </a:lnTo>
                  <a:lnTo>
                    <a:pt x="52075" y="136306"/>
                  </a:lnTo>
                  <a:cubicBezTo>
                    <a:pt x="52075" y="136836"/>
                    <a:pt x="56740" y="144854"/>
                    <a:pt x="57579" y="145665"/>
                  </a:cubicBezTo>
                  <a:cubicBezTo>
                    <a:pt x="65848" y="153794"/>
                    <a:pt x="79286" y="148598"/>
                    <a:pt x="89287" y="148374"/>
                  </a:cubicBezTo>
                  <a:lnTo>
                    <a:pt x="89287" y="176200"/>
                  </a:lnTo>
                  <a:cubicBezTo>
                    <a:pt x="66183" y="180614"/>
                    <a:pt x="43526" y="180335"/>
                    <a:pt x="28971" y="159382"/>
                  </a:cubicBezTo>
                  <a:cubicBezTo>
                    <a:pt x="26792" y="156253"/>
                    <a:pt x="20478" y="142983"/>
                    <a:pt x="20478" y="140021"/>
                  </a:cubicBezTo>
                  <a:lnTo>
                    <a:pt x="20478" y="63054"/>
                  </a:lnTo>
                  <a:lnTo>
                    <a:pt x="0" y="63054"/>
                  </a:lnTo>
                  <a:cubicBezTo>
                    <a:pt x="0" y="63054"/>
                    <a:pt x="810" y="36961"/>
                    <a:pt x="810" y="36961"/>
                  </a:cubicBezTo>
                  <a:lnTo>
                    <a:pt x="20450" y="35229"/>
                  </a:lnTo>
                  <a:lnTo>
                    <a:pt x="20450" y="0"/>
                  </a:lnTo>
                  <a:lnTo>
                    <a:pt x="52075" y="0"/>
                  </a:lnTo>
                  <a:close/>
                </a:path>
              </a:pathLst>
            </a:custGeom>
            <a:grpFill/>
            <a:ln w="2777" cap="flat">
              <a:noFill/>
              <a:prstDash val="solid"/>
              <a:miter/>
            </a:ln>
          </p:spPr>
          <p:txBody>
            <a:bodyPr/>
            <a:lstStyle/>
            <a:p>
              <a:pPr defTabSz="609585"/>
              <a:endParaRPr lang="en-GB" sz="2400" kern="0">
                <a:solidFill>
                  <a:prstClr val="black"/>
                </a:solidFill>
                <a:latin typeface="Calibri"/>
                <a:cs typeface="Arial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6249F6D-A69E-76F8-C08D-AA9067B92FCB}"/>
                </a:ext>
              </a:extLst>
            </p:cNvPr>
            <p:cNvSpPr/>
            <p:nvPr/>
          </p:nvSpPr>
          <p:spPr>
            <a:xfrm>
              <a:off x="1512079" y="1281017"/>
              <a:ext cx="102305" cy="144658"/>
            </a:xfrm>
            <a:custGeom>
              <a:avLst/>
              <a:gdLst>
                <a:gd name="csX0" fmla="*/ 48387 w 102305"/>
                <a:gd name="csY0" fmla="*/ 28 h 144658"/>
                <a:gd name="csX1" fmla="*/ 51153 w 102305"/>
                <a:gd name="csY1" fmla="*/ 13019 h 144658"/>
                <a:gd name="csX2" fmla="*/ 102306 w 102305"/>
                <a:gd name="csY2" fmla="*/ 28 h 144658"/>
                <a:gd name="csX3" fmla="*/ 102306 w 102305"/>
                <a:gd name="csY3" fmla="*/ 35257 h 144658"/>
                <a:gd name="csX4" fmla="*/ 50231 w 102305"/>
                <a:gd name="csY4" fmla="*/ 35257 h 144658"/>
                <a:gd name="csX5" fmla="*/ 50231 w 102305"/>
                <a:gd name="csY5" fmla="*/ 118705 h 144658"/>
                <a:gd name="csX6" fmla="*/ 67999 w 102305"/>
                <a:gd name="csY6" fmla="*/ 122309 h 144658"/>
                <a:gd name="csX7" fmla="*/ 68809 w 102305"/>
                <a:gd name="csY7" fmla="*/ 144659 h 144658"/>
                <a:gd name="csX8" fmla="*/ 0 w 102305"/>
                <a:gd name="csY8" fmla="*/ 144659 h 144658"/>
                <a:gd name="csX9" fmla="*/ 0 w 102305"/>
                <a:gd name="csY9" fmla="*/ 120577 h 144658"/>
                <a:gd name="csX10" fmla="*/ 18578 w 102305"/>
                <a:gd name="csY10" fmla="*/ 118677 h 144658"/>
                <a:gd name="csX11" fmla="*/ 16818 w 102305"/>
                <a:gd name="csY11" fmla="*/ 26820 h 144658"/>
                <a:gd name="csX12" fmla="*/ 112 w 102305"/>
                <a:gd name="csY12" fmla="*/ 24026 h 144658"/>
                <a:gd name="csX13" fmla="*/ 28 w 102305"/>
                <a:gd name="csY13" fmla="*/ 0 h 144658"/>
                <a:gd name="csX14" fmla="*/ 48387 w 102305"/>
                <a:gd name="csY14" fmla="*/ 0 h 144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02305" h="144658">
                  <a:moveTo>
                    <a:pt x="48387" y="28"/>
                  </a:moveTo>
                  <a:cubicBezTo>
                    <a:pt x="49505" y="3045"/>
                    <a:pt x="45510" y="13326"/>
                    <a:pt x="51153" y="13019"/>
                  </a:cubicBezTo>
                  <a:cubicBezTo>
                    <a:pt x="66546" y="12209"/>
                    <a:pt x="86074" y="810"/>
                    <a:pt x="102306" y="28"/>
                  </a:cubicBezTo>
                  <a:lnTo>
                    <a:pt x="102306" y="35257"/>
                  </a:lnTo>
                  <a:lnTo>
                    <a:pt x="50231" y="35257"/>
                  </a:lnTo>
                  <a:lnTo>
                    <a:pt x="50231" y="118705"/>
                  </a:lnTo>
                  <a:lnTo>
                    <a:pt x="67999" y="122309"/>
                  </a:lnTo>
                  <a:lnTo>
                    <a:pt x="68809" y="144659"/>
                  </a:lnTo>
                  <a:lnTo>
                    <a:pt x="0" y="144659"/>
                  </a:lnTo>
                  <a:lnTo>
                    <a:pt x="0" y="120577"/>
                  </a:lnTo>
                  <a:cubicBezTo>
                    <a:pt x="0" y="120577"/>
                    <a:pt x="18578" y="118677"/>
                    <a:pt x="18578" y="118677"/>
                  </a:cubicBezTo>
                  <a:lnTo>
                    <a:pt x="16818" y="26820"/>
                  </a:lnTo>
                  <a:lnTo>
                    <a:pt x="112" y="24026"/>
                  </a:lnTo>
                  <a:lnTo>
                    <a:pt x="28" y="0"/>
                  </a:lnTo>
                  <a:lnTo>
                    <a:pt x="48387" y="0"/>
                  </a:lnTo>
                  <a:close/>
                </a:path>
              </a:pathLst>
            </a:custGeom>
            <a:grpFill/>
            <a:ln w="2777" cap="flat">
              <a:noFill/>
              <a:prstDash val="solid"/>
              <a:miter/>
            </a:ln>
          </p:spPr>
          <p:txBody>
            <a:bodyPr/>
            <a:lstStyle/>
            <a:p>
              <a:pPr defTabSz="609585"/>
              <a:endParaRPr lang="en-GB" sz="2400" kern="0">
                <a:solidFill>
                  <a:prstClr val="black"/>
                </a:solidFill>
                <a:latin typeface="Calibri"/>
                <a:cs typeface="Arial"/>
              </a:endParaRPr>
            </a:p>
          </p:txBody>
        </p:sp>
        <p:grpSp>
          <p:nvGrpSpPr>
            <p:cNvPr id="27" name="Graphic 13">
              <a:extLst>
                <a:ext uri="{FF2B5EF4-FFF2-40B4-BE49-F238E27FC236}">
                  <a16:creationId xmlns:a16="http://schemas.microsoft.com/office/drawing/2014/main" id="{6DA522D8-4860-EC29-EAC6-B1725FEC37B6}"/>
                </a:ext>
              </a:extLst>
            </p:cNvPr>
            <p:cNvGrpSpPr/>
            <p:nvPr/>
          </p:nvGrpSpPr>
          <p:grpSpPr>
            <a:xfrm>
              <a:off x="888996" y="1049223"/>
              <a:ext cx="405172" cy="209733"/>
              <a:chOff x="888996" y="1049223"/>
              <a:chExt cx="405172" cy="209733"/>
            </a:xfrm>
            <a:grpFill/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A51ED2D-2084-7997-5AAC-DCB38FC8D825}"/>
                  </a:ext>
                </a:extLst>
              </p:cNvPr>
              <p:cNvSpPr/>
              <p:nvPr/>
            </p:nvSpPr>
            <p:spPr>
              <a:xfrm>
                <a:off x="993229" y="1049223"/>
                <a:ext cx="160279" cy="207713"/>
              </a:xfrm>
              <a:custGeom>
                <a:avLst/>
                <a:gdLst>
                  <a:gd name="csX0" fmla="*/ 50175 w 160279"/>
                  <a:gd name="csY0" fmla="*/ 0 h 207713"/>
                  <a:gd name="csX1" fmla="*/ 50175 w 160279"/>
                  <a:gd name="csY1" fmla="*/ 72329 h 207713"/>
                  <a:gd name="csX2" fmla="*/ 139434 w 160279"/>
                  <a:gd name="csY2" fmla="*/ 102949 h 207713"/>
                  <a:gd name="csX3" fmla="*/ 139351 w 160279"/>
                  <a:gd name="csY3" fmla="*/ 178826 h 207713"/>
                  <a:gd name="csX4" fmla="*/ 159689 w 160279"/>
                  <a:gd name="csY4" fmla="*/ 183855 h 207713"/>
                  <a:gd name="csX5" fmla="*/ 157147 w 160279"/>
                  <a:gd name="csY5" fmla="*/ 207713 h 207713"/>
                  <a:gd name="csX6" fmla="*/ 110659 w 160279"/>
                  <a:gd name="csY6" fmla="*/ 207713 h 207713"/>
                  <a:gd name="csX7" fmla="*/ 107865 w 160279"/>
                  <a:gd name="csY7" fmla="*/ 204919 h 207713"/>
                  <a:gd name="csX8" fmla="*/ 107865 w 160279"/>
                  <a:gd name="csY8" fmla="*/ 106636 h 207713"/>
                  <a:gd name="csX9" fmla="*/ 102027 w 160279"/>
                  <a:gd name="csY9" fmla="*/ 95769 h 207713"/>
                  <a:gd name="csX10" fmla="*/ 50650 w 160279"/>
                  <a:gd name="csY10" fmla="*/ 107111 h 207713"/>
                  <a:gd name="csX11" fmla="*/ 50091 w 160279"/>
                  <a:gd name="csY11" fmla="*/ 178770 h 207713"/>
                  <a:gd name="csX12" fmla="*/ 68558 w 160279"/>
                  <a:gd name="csY12" fmla="*/ 183855 h 207713"/>
                  <a:gd name="csX13" fmla="*/ 66016 w 160279"/>
                  <a:gd name="csY13" fmla="*/ 207713 h 207713"/>
                  <a:gd name="csX14" fmla="*/ 0 w 160279"/>
                  <a:gd name="csY14" fmla="*/ 207713 h 207713"/>
                  <a:gd name="csX15" fmla="*/ 251 w 160279"/>
                  <a:gd name="csY15" fmla="*/ 183855 h 207713"/>
                  <a:gd name="csX16" fmla="*/ 18718 w 160279"/>
                  <a:gd name="csY16" fmla="*/ 178770 h 207713"/>
                  <a:gd name="csX17" fmla="*/ 18606 w 160279"/>
                  <a:gd name="csY17" fmla="*/ 24110 h 207713"/>
                  <a:gd name="csX18" fmla="*/ 810 w 160279"/>
                  <a:gd name="csY18" fmla="*/ 22378 h 207713"/>
                  <a:gd name="csX19" fmla="*/ 0 w 160279"/>
                  <a:gd name="csY19" fmla="*/ 0 h 207713"/>
                  <a:gd name="csX20" fmla="*/ 50231 w 160279"/>
                  <a:gd name="csY20" fmla="*/ 0 h 207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160279" h="207713">
                    <a:moveTo>
                      <a:pt x="50175" y="0"/>
                    </a:moveTo>
                    <a:lnTo>
                      <a:pt x="50175" y="72329"/>
                    </a:lnTo>
                    <a:cubicBezTo>
                      <a:pt x="81549" y="48192"/>
                      <a:pt x="134992" y="59115"/>
                      <a:pt x="139434" y="102949"/>
                    </a:cubicBezTo>
                    <a:cubicBezTo>
                      <a:pt x="141865" y="126863"/>
                      <a:pt x="137758" y="154465"/>
                      <a:pt x="139351" y="178826"/>
                    </a:cubicBezTo>
                    <a:lnTo>
                      <a:pt x="159689" y="183855"/>
                    </a:lnTo>
                    <a:cubicBezTo>
                      <a:pt x="159298" y="191398"/>
                      <a:pt x="162483" y="201986"/>
                      <a:pt x="157147" y="207713"/>
                    </a:cubicBezTo>
                    <a:lnTo>
                      <a:pt x="110659" y="207713"/>
                    </a:lnTo>
                    <a:lnTo>
                      <a:pt x="107865" y="204919"/>
                    </a:lnTo>
                    <a:lnTo>
                      <a:pt x="107865" y="106636"/>
                    </a:lnTo>
                    <a:cubicBezTo>
                      <a:pt x="107865" y="105603"/>
                      <a:pt x="103228" y="97138"/>
                      <a:pt x="102027" y="95769"/>
                    </a:cubicBezTo>
                    <a:cubicBezTo>
                      <a:pt x="90125" y="82024"/>
                      <a:pt x="55064" y="89762"/>
                      <a:pt x="50650" y="107111"/>
                    </a:cubicBezTo>
                    <a:cubicBezTo>
                      <a:pt x="45985" y="125494"/>
                      <a:pt x="53276" y="158711"/>
                      <a:pt x="50091" y="178770"/>
                    </a:cubicBezTo>
                    <a:lnTo>
                      <a:pt x="68558" y="183855"/>
                    </a:lnTo>
                    <a:cubicBezTo>
                      <a:pt x="68167" y="191398"/>
                      <a:pt x="71352" y="201986"/>
                      <a:pt x="66016" y="207713"/>
                    </a:cubicBezTo>
                    <a:lnTo>
                      <a:pt x="0" y="207713"/>
                    </a:lnTo>
                    <a:lnTo>
                      <a:pt x="251" y="183855"/>
                    </a:lnTo>
                    <a:lnTo>
                      <a:pt x="18718" y="178770"/>
                    </a:lnTo>
                    <a:lnTo>
                      <a:pt x="18606" y="24110"/>
                    </a:lnTo>
                    <a:lnTo>
                      <a:pt x="810" y="22378"/>
                    </a:lnTo>
                    <a:lnTo>
                      <a:pt x="0" y="0"/>
                    </a:lnTo>
                    <a:lnTo>
                      <a:pt x="50231" y="0"/>
                    </a:lnTo>
                    <a:close/>
                  </a:path>
                </a:pathLst>
              </a:custGeom>
              <a:grpFill/>
              <a:ln w="2777" cap="flat">
                <a:noFill/>
                <a:prstDash val="solid"/>
                <a:miter/>
              </a:ln>
            </p:spPr>
            <p:txBody>
              <a:bodyPr/>
              <a:lstStyle/>
              <a:p>
                <a:pPr defTabSz="609585"/>
                <a:endParaRPr lang="en-GB" sz="2400" kern="0">
                  <a:solidFill>
                    <a:prstClr val="black"/>
                  </a:solidFill>
                  <a:latin typeface="Calibri"/>
                  <a:cs typeface="Arial"/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F3EBBFC4-845E-33FF-A07B-6A315F26A4C2}"/>
                  </a:ext>
                </a:extLst>
              </p:cNvPr>
              <p:cNvSpPr/>
              <p:nvPr/>
            </p:nvSpPr>
            <p:spPr>
              <a:xfrm>
                <a:off x="1154851" y="1108951"/>
                <a:ext cx="139318" cy="149375"/>
              </a:xfrm>
              <a:custGeom>
                <a:avLst/>
                <a:gdLst>
                  <a:gd name="csX0" fmla="*/ 135938 w 139318"/>
                  <a:gd name="csY0" fmla="*/ 81215 h 149375"/>
                  <a:gd name="csX1" fmla="*/ 33632 w 139318"/>
                  <a:gd name="csY1" fmla="*/ 81215 h 149375"/>
                  <a:gd name="csX2" fmla="*/ 119147 w 139318"/>
                  <a:gd name="csY2" fmla="*/ 96860 h 149375"/>
                  <a:gd name="csX3" fmla="*/ 139318 w 139318"/>
                  <a:gd name="csY3" fmla="*/ 113650 h 149375"/>
                  <a:gd name="csX4" fmla="*/ 51 w 139318"/>
                  <a:gd name="csY4" fmla="*/ 70962 h 149375"/>
                  <a:gd name="csX5" fmla="*/ 96798 w 139318"/>
                  <a:gd name="csY5" fmla="*/ 4304 h 149375"/>
                  <a:gd name="csX6" fmla="*/ 135910 w 139318"/>
                  <a:gd name="csY6" fmla="*/ 52468 h 149375"/>
                  <a:gd name="csX7" fmla="*/ 135910 w 139318"/>
                  <a:gd name="csY7" fmla="*/ 81215 h 149375"/>
                  <a:gd name="csX8" fmla="*/ 104313 w 139318"/>
                  <a:gd name="csY8" fmla="*/ 57105 h 149375"/>
                  <a:gd name="csX9" fmla="*/ 35504 w 139318"/>
                  <a:gd name="csY9" fmla="*/ 57105 h 149375"/>
                  <a:gd name="csX10" fmla="*/ 104313 w 139318"/>
                  <a:gd name="csY10" fmla="*/ 57105 h 1493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39318" h="149375">
                    <a:moveTo>
                      <a:pt x="135938" y="81215"/>
                    </a:moveTo>
                    <a:lnTo>
                      <a:pt x="33632" y="81215"/>
                    </a:lnTo>
                    <a:cubicBezTo>
                      <a:pt x="36118" y="128233"/>
                      <a:pt x="96965" y="133290"/>
                      <a:pt x="119147" y="96860"/>
                    </a:cubicBezTo>
                    <a:cubicBezTo>
                      <a:pt x="123701" y="94374"/>
                      <a:pt x="135407" y="110577"/>
                      <a:pt x="139318" y="113650"/>
                    </a:cubicBezTo>
                    <a:cubicBezTo>
                      <a:pt x="96351" y="177151"/>
                      <a:pt x="-2575" y="151757"/>
                      <a:pt x="51" y="70962"/>
                    </a:cubicBezTo>
                    <a:cubicBezTo>
                      <a:pt x="1700" y="20396"/>
                      <a:pt x="48830" y="-12151"/>
                      <a:pt x="96798" y="4304"/>
                    </a:cubicBezTo>
                    <a:cubicBezTo>
                      <a:pt x="113392" y="9975"/>
                      <a:pt x="135910" y="34811"/>
                      <a:pt x="135910" y="52468"/>
                    </a:cubicBezTo>
                    <a:lnTo>
                      <a:pt x="135910" y="81215"/>
                    </a:lnTo>
                    <a:close/>
                    <a:moveTo>
                      <a:pt x="104313" y="57105"/>
                    </a:moveTo>
                    <a:cubicBezTo>
                      <a:pt x="103140" y="15367"/>
                      <a:pt x="38353" y="18831"/>
                      <a:pt x="35504" y="57105"/>
                    </a:cubicBezTo>
                    <a:lnTo>
                      <a:pt x="104313" y="57105"/>
                    </a:lnTo>
                    <a:close/>
                  </a:path>
                </a:pathLst>
              </a:custGeom>
              <a:grpFill/>
              <a:ln w="2777" cap="flat">
                <a:noFill/>
                <a:prstDash val="solid"/>
                <a:miter/>
              </a:ln>
            </p:spPr>
            <p:txBody>
              <a:bodyPr/>
              <a:lstStyle/>
              <a:p>
                <a:pPr defTabSz="609585"/>
                <a:endParaRPr lang="en-GB" sz="2400" kern="0">
                  <a:solidFill>
                    <a:prstClr val="black"/>
                  </a:solidFill>
                  <a:latin typeface="Calibri"/>
                  <a:cs typeface="Arial"/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C3851E1D-64D8-8BBF-67F8-E29065734257}"/>
                  </a:ext>
                </a:extLst>
              </p:cNvPr>
              <p:cNvSpPr/>
              <p:nvPr/>
            </p:nvSpPr>
            <p:spPr>
              <a:xfrm>
                <a:off x="888996" y="1078892"/>
                <a:ext cx="91506" cy="180064"/>
              </a:xfrm>
              <a:custGeom>
                <a:avLst/>
                <a:gdLst>
                  <a:gd name="csX0" fmla="*/ 52103 w 91506"/>
                  <a:gd name="csY0" fmla="*/ 37101 h 180064"/>
                  <a:gd name="csX1" fmla="*/ 91159 w 91506"/>
                  <a:gd name="csY1" fmla="*/ 37101 h 180064"/>
                  <a:gd name="csX2" fmla="*/ 88365 w 91506"/>
                  <a:gd name="csY2" fmla="*/ 64926 h 180064"/>
                  <a:gd name="csX3" fmla="*/ 52103 w 91506"/>
                  <a:gd name="csY3" fmla="*/ 64926 h 180064"/>
                  <a:gd name="csX4" fmla="*/ 52103 w 91506"/>
                  <a:gd name="csY4" fmla="*/ 138177 h 180064"/>
                  <a:gd name="csX5" fmla="*/ 56405 w 91506"/>
                  <a:gd name="csY5" fmla="*/ 145944 h 180064"/>
                  <a:gd name="csX6" fmla="*/ 87443 w 91506"/>
                  <a:gd name="csY6" fmla="*/ 148374 h 180064"/>
                  <a:gd name="csX7" fmla="*/ 87443 w 91506"/>
                  <a:gd name="csY7" fmla="*/ 178044 h 180064"/>
                  <a:gd name="csX8" fmla="*/ 20478 w 91506"/>
                  <a:gd name="csY8" fmla="*/ 140021 h 180064"/>
                  <a:gd name="csX9" fmla="*/ 20478 w 91506"/>
                  <a:gd name="csY9" fmla="*/ 64898 h 180064"/>
                  <a:gd name="csX10" fmla="*/ 810 w 91506"/>
                  <a:gd name="csY10" fmla="*/ 63166 h 180064"/>
                  <a:gd name="csX11" fmla="*/ 0 w 91506"/>
                  <a:gd name="csY11" fmla="*/ 37073 h 180064"/>
                  <a:gd name="csX12" fmla="*/ 20478 w 91506"/>
                  <a:gd name="csY12" fmla="*/ 37073 h 180064"/>
                  <a:gd name="csX13" fmla="*/ 20478 w 91506"/>
                  <a:gd name="csY13" fmla="*/ 0 h 180064"/>
                  <a:gd name="csX14" fmla="*/ 49309 w 91506"/>
                  <a:gd name="csY14" fmla="*/ 0 h 180064"/>
                  <a:gd name="csX15" fmla="*/ 52103 w 91506"/>
                  <a:gd name="csY15" fmla="*/ 2794 h 180064"/>
                  <a:gd name="csX16" fmla="*/ 52103 w 91506"/>
                  <a:gd name="csY16" fmla="*/ 37101 h 18006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91506" h="180064">
                    <a:moveTo>
                      <a:pt x="52103" y="37101"/>
                    </a:moveTo>
                    <a:lnTo>
                      <a:pt x="91159" y="37101"/>
                    </a:lnTo>
                    <a:cubicBezTo>
                      <a:pt x="89930" y="45901"/>
                      <a:pt x="94148" y="57942"/>
                      <a:pt x="88365" y="64926"/>
                    </a:cubicBezTo>
                    <a:lnTo>
                      <a:pt x="52103" y="64926"/>
                    </a:lnTo>
                    <a:lnTo>
                      <a:pt x="52103" y="138177"/>
                    </a:lnTo>
                    <a:cubicBezTo>
                      <a:pt x="52103" y="138624"/>
                      <a:pt x="55735" y="145218"/>
                      <a:pt x="56405" y="145944"/>
                    </a:cubicBezTo>
                    <a:cubicBezTo>
                      <a:pt x="62356" y="152397"/>
                      <a:pt x="79537" y="151196"/>
                      <a:pt x="87443" y="148374"/>
                    </a:cubicBezTo>
                    <a:lnTo>
                      <a:pt x="87443" y="178044"/>
                    </a:lnTo>
                    <a:cubicBezTo>
                      <a:pt x="58445" y="185363"/>
                      <a:pt x="24026" y="172820"/>
                      <a:pt x="20478" y="140021"/>
                    </a:cubicBezTo>
                    <a:cubicBezTo>
                      <a:pt x="17936" y="116526"/>
                      <a:pt x="22378" y="88840"/>
                      <a:pt x="20478" y="64898"/>
                    </a:cubicBezTo>
                    <a:lnTo>
                      <a:pt x="810" y="63166"/>
                    </a:lnTo>
                    <a:lnTo>
                      <a:pt x="0" y="37073"/>
                    </a:lnTo>
                    <a:lnTo>
                      <a:pt x="20478" y="37073"/>
                    </a:lnTo>
                    <a:cubicBezTo>
                      <a:pt x="20478" y="37073"/>
                      <a:pt x="20478" y="0"/>
                      <a:pt x="20478" y="0"/>
                    </a:cubicBezTo>
                    <a:lnTo>
                      <a:pt x="49309" y="0"/>
                    </a:lnTo>
                    <a:lnTo>
                      <a:pt x="52103" y="2794"/>
                    </a:lnTo>
                    <a:lnTo>
                      <a:pt x="52103" y="37101"/>
                    </a:lnTo>
                    <a:close/>
                  </a:path>
                </a:pathLst>
              </a:custGeom>
              <a:grpFill/>
              <a:ln w="2777" cap="flat">
                <a:noFill/>
                <a:prstDash val="solid"/>
                <a:miter/>
              </a:ln>
            </p:spPr>
            <p:txBody>
              <a:bodyPr/>
              <a:lstStyle/>
              <a:p>
                <a:pPr defTabSz="609585"/>
                <a:endParaRPr lang="en-GB" sz="2400" kern="0">
                  <a:solidFill>
                    <a:prstClr val="black"/>
                  </a:solidFill>
                  <a:latin typeface="Calibri"/>
                  <a:cs typeface="Arial"/>
                </a:endParaRPr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BB3E768-D928-F3D2-BA94-6C2898451C27}"/>
              </a:ext>
            </a:extLst>
          </p:cNvPr>
          <p:cNvGrpSpPr/>
          <p:nvPr/>
        </p:nvGrpSpPr>
        <p:grpSpPr>
          <a:xfrm rot="3773138">
            <a:off x="8679169" y="3682791"/>
            <a:ext cx="4948444" cy="5989736"/>
            <a:chOff x="6973616" y="1759242"/>
            <a:chExt cx="3711333" cy="4492302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F9EFA95-D57E-9D99-607C-5C39DD0150F4}"/>
                </a:ext>
              </a:extLst>
            </p:cNvPr>
            <p:cNvSpPr/>
            <p:nvPr/>
          </p:nvSpPr>
          <p:spPr bwMode="auto">
            <a:xfrm rot="18328356">
              <a:off x="6973616" y="1759242"/>
              <a:ext cx="3665220" cy="3665220"/>
            </a:xfrm>
            <a:prstGeom prst="ellipse">
              <a:avLst/>
            </a:prstGeom>
            <a:gradFill>
              <a:gsLst>
                <a:gs pos="0">
                  <a:srgbClr val="DDF365">
                    <a:alpha val="16000"/>
                  </a:srgbClr>
                </a:gs>
                <a:gs pos="100000">
                  <a:srgbClr val="DDF365">
                    <a:alpha val="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defTabSz="609585">
                <a:buSzPct val="100000"/>
              </a:pPr>
              <a:endParaRPr lang="en-GB" sz="1867" kern="0" dirty="0">
                <a:solidFill>
                  <a:srgbClr val="F8F8F8">
                    <a:lumMod val="25000"/>
                    <a:alpha val="50000"/>
                  </a:srgbClr>
                </a:solidFill>
                <a:latin typeface="Yandex Sans Text Medium" pitchFamily="2" charset="-52"/>
                <a:cs typeface="Arial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7899D32-AE5F-DF80-818C-A953220A0278}"/>
                </a:ext>
              </a:extLst>
            </p:cNvPr>
            <p:cNvSpPr/>
            <p:nvPr/>
          </p:nvSpPr>
          <p:spPr bwMode="auto">
            <a:xfrm rot="3286695">
              <a:off x="7019729" y="2586324"/>
              <a:ext cx="3665220" cy="3665220"/>
            </a:xfrm>
            <a:prstGeom prst="ellipse">
              <a:avLst/>
            </a:prstGeom>
            <a:noFill/>
            <a:ln w="3175">
              <a:solidFill>
                <a:schemeClr val="bg1">
                  <a:alpha val="42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defTabSz="609585">
                <a:buSzPct val="100000"/>
              </a:pPr>
              <a:endParaRPr lang="en-GB" sz="1867" kern="0" dirty="0">
                <a:solidFill>
                  <a:srgbClr val="F8F8F8">
                    <a:lumMod val="25000"/>
                    <a:alpha val="50000"/>
                  </a:srgbClr>
                </a:solidFill>
                <a:latin typeface="Yandex Sans Text Medium" pitchFamily="2" charset="-52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Isosceles Triangle 59">
            <a:extLst>
              <a:ext uri="{FF2B5EF4-FFF2-40B4-BE49-F238E27FC236}">
                <a16:creationId xmlns:a16="http://schemas.microsoft.com/office/drawing/2014/main" id="{A8BE472E-6988-D39F-80BF-A17846BECC1B}"/>
              </a:ext>
            </a:extLst>
          </p:cNvPr>
          <p:cNvSpPr/>
          <p:nvPr/>
        </p:nvSpPr>
        <p:spPr bwMode="auto">
          <a:xfrm rot="7507754">
            <a:off x="-1428918" y="-1286678"/>
            <a:ext cx="4409780" cy="4409780"/>
          </a:xfrm>
          <a:prstGeom prst="triangle">
            <a:avLst>
              <a:gd name="adj" fmla="val 50688"/>
            </a:avLst>
          </a:prstGeom>
          <a:gradFill>
            <a:gsLst>
              <a:gs pos="0">
                <a:srgbClr val="DDF365">
                  <a:alpha val="10000"/>
                </a:srgbClr>
              </a:gs>
              <a:gs pos="100000">
                <a:srgbClr val="DDF365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defTabSz="609585">
              <a:buSzPct val="100000"/>
            </a:pPr>
            <a:endParaRPr lang="en-GB" sz="1867" kern="0" dirty="0">
              <a:solidFill>
                <a:srgbClr val="F8F8F8">
                  <a:lumMod val="25000"/>
                  <a:alpha val="50000"/>
                </a:srgbClr>
              </a:solidFill>
              <a:latin typeface="Yandex Sans Text Medium" pitchFamily="2" charset="-52"/>
              <a:cs typeface="Arial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0AB3CA7-B3B8-84C6-2919-2BC93D0CE076}"/>
              </a:ext>
            </a:extLst>
          </p:cNvPr>
          <p:cNvGraphicFramePr>
            <a:graphicFrameLocks noGrp="1"/>
          </p:cNvGraphicFramePr>
          <p:nvPr/>
        </p:nvGraphicFramePr>
        <p:xfrm>
          <a:off x="527051" y="4324610"/>
          <a:ext cx="5314949" cy="2004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2789">
                  <a:extLst>
                    <a:ext uri="{9D8B030D-6E8A-4147-A177-3AD203B41FA5}">
                      <a16:colId xmlns:a16="http://schemas.microsoft.com/office/drawing/2014/main" val="3912473403"/>
                    </a:ext>
                  </a:extLst>
                </a:gridCol>
                <a:gridCol w="2572160">
                  <a:extLst>
                    <a:ext uri="{9D8B030D-6E8A-4147-A177-3AD203B41FA5}">
                      <a16:colId xmlns:a16="http://schemas.microsoft.com/office/drawing/2014/main" val="2469871375"/>
                    </a:ext>
                  </a:extLst>
                </a:gridCol>
              </a:tblGrid>
              <a:tr h="429776">
                <a:tc>
                  <a:txBody>
                    <a:bodyPr/>
                    <a:lstStyle/>
                    <a:p>
                      <a:pPr algn="ctr"/>
                      <a:r>
                        <a:rPr lang="ru-RU" sz="15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Yandex Sans Text Medium" pitchFamily="2" charset="-52"/>
                        </a:rPr>
                        <a:t>Метрика</a:t>
                      </a:r>
                      <a:endParaRPr lang="en-GB" sz="15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Yandex Sans Text Medium" pitchFamily="2" charset="-52"/>
                      </a:endParaRPr>
                    </a:p>
                  </a:txBody>
                  <a:tcPr marL="121920" marR="121920" marT="60960" marB="6096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381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Yandex Sans Text Medium" pitchFamily="2" charset="-52"/>
                        </a:rPr>
                        <a:t>Смысл</a:t>
                      </a:r>
                      <a:endParaRPr lang="en-GB" sz="15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Yandex Sans Text Medium" pitchFamily="2" charset="-52"/>
                      </a:endParaRPr>
                    </a:p>
                  </a:txBody>
                  <a:tcPr marL="121920" marR="121920" marT="60960" marB="6096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381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250803"/>
                  </a:ext>
                </a:extLst>
              </a:tr>
              <a:tr h="1047863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Yandex Sans Text Medium" pitchFamily="2" charset="-52"/>
                        </a:rPr>
                        <a:t>Количество завершенных просмотров на час работы</a:t>
                      </a:r>
                    </a:p>
                    <a:p>
                      <a:r>
                        <a:rPr lang="ru-RU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Yandex Sans Text Medium" pitchFamily="2" charset="-52"/>
                        </a:rPr>
                        <a:t>(</a:t>
                      </a:r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Yandex Sans Text Medium" pitchFamily="2" charset="-52"/>
                        </a:rPr>
                        <a:t>Completed views per production hour or CVPH)</a:t>
                      </a:r>
                      <a:endParaRPr lang="en-GB" sz="1100" dirty="0">
                        <a:solidFill>
                          <a:schemeClr val="bg2">
                            <a:lumMod val="25000"/>
                          </a:schemeClr>
                        </a:solidFill>
                        <a:latin typeface="Yandex Sans Text Medium" pitchFamily="2" charset="-52"/>
                      </a:endParaRPr>
                    </a:p>
                  </a:txBody>
                  <a:tcPr marL="121920" marR="121920" marT="96000" marB="96000" anchor="ctr">
                    <a:lnL w="12700">
                      <a:noFill/>
                    </a:lnL>
                    <a:lnR w="12700">
                      <a:noFill/>
                    </a:lnR>
                    <a:lnT w="38100">
                      <a:noFill/>
                    </a:lnT>
                    <a:lnB w="127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Yandex Sans Text Regular" pitchFamily="2" charset="-52"/>
                        </a:rPr>
                        <a:t>Комплексная метрика: </a:t>
                      </a:r>
                      <a:br>
                        <a:rPr lang="ru-RU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Yandex Sans Text Regular" pitchFamily="2" charset="-52"/>
                        </a:rPr>
                      </a:br>
                      <a:r>
                        <a:rPr lang="ru-RU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Yandex Sans Text Regular" pitchFamily="2" charset="-52"/>
                        </a:rPr>
                        <a:t>общая ценность произведенного за час публикации с учетом охвата</a:t>
                      </a:r>
                      <a:endParaRPr lang="en-GB" sz="1100" dirty="0">
                        <a:solidFill>
                          <a:schemeClr val="bg2">
                            <a:lumMod val="25000"/>
                          </a:schemeClr>
                        </a:solidFill>
                        <a:latin typeface="Yandex Sans Text Regular" pitchFamily="2" charset="-52"/>
                      </a:endParaRPr>
                    </a:p>
                  </a:txBody>
                  <a:tcPr marL="121920" marR="121920" marT="96000" marB="96000" anchor="ctr">
                    <a:lnL w="12700">
                      <a:noFill/>
                    </a:lnL>
                    <a:lnR w="12700">
                      <a:noFill/>
                    </a:lnR>
                    <a:lnT w="38100">
                      <a:noFill/>
                    </a:lnT>
                    <a:lnB w="127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004345"/>
                  </a:ext>
                </a:extLst>
              </a:tr>
              <a:tr h="51712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Yandex Sans Text Medium" pitchFamily="2" charset="-52"/>
                        </a:rPr>
                        <a:t>Конверсия просмотра в сохранение</a:t>
                      </a:r>
                      <a:endParaRPr lang="en-GB" sz="1100" dirty="0">
                        <a:solidFill>
                          <a:schemeClr val="bg2">
                            <a:lumMod val="25000"/>
                          </a:schemeClr>
                        </a:solidFill>
                        <a:latin typeface="Yandex Sans Text Medium" pitchFamily="2" charset="-52"/>
                      </a:endParaRPr>
                    </a:p>
                  </a:txBody>
                  <a:tcPr marL="121920" marR="121920" marT="96000" marB="9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Yandex Sans Text Regular" pitchFamily="2" charset="-52"/>
                        </a:rPr>
                        <a:t>Долгосрочная ценность публикации</a:t>
                      </a:r>
                      <a:endParaRPr lang="en-GB" sz="1100" dirty="0">
                        <a:solidFill>
                          <a:schemeClr val="bg2">
                            <a:lumMod val="25000"/>
                          </a:schemeClr>
                        </a:solidFill>
                        <a:latin typeface="Yandex Sans Text Regular" pitchFamily="2" charset="-52"/>
                      </a:endParaRPr>
                    </a:p>
                  </a:txBody>
                  <a:tcPr marL="121920" marR="121920" marT="96000" marB="9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586949"/>
                  </a:ext>
                </a:extLst>
              </a:tr>
            </a:tbl>
          </a:graphicData>
        </a:graphic>
      </p:graphicFrame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3DD4E32C-B8AE-C9BD-17AC-A52608832973}"/>
              </a:ext>
            </a:extLst>
          </p:cNvPr>
          <p:cNvSpPr txBox="1">
            <a:spLocks/>
          </p:cNvSpPr>
          <p:nvPr/>
        </p:nvSpPr>
        <p:spPr bwMode="auto">
          <a:xfrm>
            <a:off x="392396" y="215166"/>
            <a:ext cx="12324323" cy="703045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 fontScale="52500" lnSpcReduction="20000"/>
          </a:bodyPr>
          <a:lstStyle>
            <a:lvl1pPr algn="l" defTabSz="457200">
              <a:spcBef>
                <a:spcPts val="0"/>
              </a:spcBef>
              <a:buNone/>
              <a:defRPr sz="3200" b="1" i="0">
                <a:solidFill>
                  <a:schemeClr val="bg1"/>
                </a:solidFill>
                <a:latin typeface="Golos Text DemiBold"/>
                <a:ea typeface="+mj-ea"/>
                <a:cs typeface="+mj-cs"/>
              </a:defRPr>
            </a:lvl1pPr>
          </a:lstStyle>
          <a:p>
            <a:pPr defTabSz="609585">
              <a:defRPr/>
            </a:pPr>
            <a:r>
              <a:rPr lang="ru-RU" sz="4533" kern="0" dirty="0">
                <a:solidFill>
                  <a:prstClr val="white"/>
                </a:solidFill>
                <a:latin typeface="Yandex Sans Display Bold" pitchFamily="2" charset="-52"/>
                <a:cs typeface="Arial"/>
              </a:rPr>
              <a:t>КАРТОЧКИ О КАРЬЕРЕ</a:t>
            </a:r>
            <a:br>
              <a:rPr lang="ru-RU" sz="4267" kern="0" dirty="0">
                <a:solidFill>
                  <a:prstClr val="white"/>
                </a:solidFill>
                <a:latin typeface="Yandex Sans Display Bold" pitchFamily="2" charset="-52"/>
                <a:cs typeface="Arial"/>
              </a:rPr>
            </a:br>
            <a:r>
              <a:rPr lang="ru-RU" sz="4267" b="0" kern="0" dirty="0">
                <a:solidFill>
                  <a:prstClr val="white"/>
                </a:solidFill>
                <a:latin typeface="Yandex Sans Display Bold" pitchFamily="2" charset="-52"/>
                <a:cs typeface="Arial"/>
              </a:rPr>
              <a:t>золотая середина между краткосрочной и долгосрочной эффективность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5043902-E2D9-9A1B-2A0A-EAEF7F17AFD5}"/>
              </a:ext>
            </a:extLst>
          </p:cNvPr>
          <p:cNvSpPr/>
          <p:nvPr/>
        </p:nvSpPr>
        <p:spPr bwMode="auto">
          <a:xfrm>
            <a:off x="527051" y="2596837"/>
            <a:ext cx="1921509" cy="6299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rgbClr val="745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>
              <a:buSzPct val="100000"/>
            </a:pPr>
            <a:r>
              <a:rPr lang="ru-RU" sz="1333" kern="0" dirty="0">
                <a:solidFill>
                  <a:srgbClr val="F8F8F8">
                    <a:lumMod val="25000"/>
                  </a:srgbClr>
                </a:solidFill>
                <a:latin typeface="Yandex Sans Text Medium" pitchFamily="2" charset="-52"/>
                <a:cs typeface="Arial"/>
              </a:rPr>
              <a:t>Ограниченное время команды</a:t>
            </a:r>
            <a:endParaRPr lang="en-GB" sz="1333" kern="0" dirty="0">
              <a:solidFill>
                <a:srgbClr val="F8F8F8">
                  <a:lumMod val="25000"/>
                </a:srgbClr>
              </a:solidFill>
              <a:latin typeface="Yandex Sans Text Medium" pitchFamily="2" charset="-52"/>
              <a:cs typeface="Arial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F610F29-C732-69E6-E720-A133526C6368}"/>
              </a:ext>
            </a:extLst>
          </p:cNvPr>
          <p:cNvSpPr/>
          <p:nvPr/>
        </p:nvSpPr>
        <p:spPr bwMode="auto">
          <a:xfrm>
            <a:off x="2599691" y="2596837"/>
            <a:ext cx="2561589" cy="6299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rgbClr val="7451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>
              <a:buSzPct val="100000"/>
            </a:pPr>
            <a:r>
              <a:rPr lang="ru-RU" sz="1333" kern="0" dirty="0">
                <a:solidFill>
                  <a:srgbClr val="F8F8F8">
                    <a:lumMod val="25000"/>
                  </a:srgbClr>
                </a:solidFill>
                <a:latin typeface="Yandex Sans Text Medium" pitchFamily="2" charset="-52"/>
                <a:cs typeface="Arial"/>
              </a:rPr>
              <a:t>Ориентир на заинтересованную ЦА</a:t>
            </a:r>
            <a:endParaRPr lang="en-GB" sz="1333" kern="0" dirty="0">
              <a:solidFill>
                <a:srgbClr val="F8F8F8">
                  <a:lumMod val="25000"/>
                </a:srgbClr>
              </a:solidFill>
              <a:latin typeface="Yandex Sans Text Medium" pitchFamily="2" charset="-52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86B7D7-6F1A-DAE4-85DD-7DCD1ABF2094}"/>
              </a:ext>
            </a:extLst>
          </p:cNvPr>
          <p:cNvSpPr/>
          <p:nvPr/>
        </p:nvSpPr>
        <p:spPr bwMode="auto">
          <a:xfrm>
            <a:off x="527051" y="3626172"/>
            <a:ext cx="5314949" cy="703045"/>
          </a:xfrm>
          <a:prstGeom prst="rect">
            <a:avLst/>
          </a:prstGeom>
          <a:solidFill>
            <a:srgbClr val="745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09585">
              <a:buSzPct val="100000"/>
            </a:pPr>
            <a:r>
              <a:rPr lang="ru-RU" sz="1867" kern="0" dirty="0">
                <a:solidFill>
                  <a:prstClr val="white"/>
                </a:solidFill>
                <a:latin typeface="Yandex Sans Text Bold" pitchFamily="2" charset="-52"/>
                <a:cs typeface="Arial"/>
              </a:rPr>
              <a:t>ПРИОРИТЕТ: ЭФФЕКТИВНОСТЬ</a:t>
            </a:r>
          </a:p>
          <a:p>
            <a:pPr defTabSz="609585">
              <a:buSzPct val="100000"/>
            </a:pPr>
            <a:r>
              <a:rPr lang="ru-RU" sz="1333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Сильный результат = максимизацию полезного контента</a:t>
            </a:r>
            <a:endParaRPr lang="en-GB" sz="1333" kern="0" dirty="0">
              <a:solidFill>
                <a:prstClr val="white"/>
              </a:solidFill>
              <a:latin typeface="Yandex Sans Text Medium" pitchFamily="2" charset="-52"/>
              <a:cs typeface="Arial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469887B-E2E0-2879-20EE-62060C16641C}"/>
              </a:ext>
            </a:extLst>
          </p:cNvPr>
          <p:cNvCxnSpPr>
            <a:cxnSpLocks/>
          </p:cNvCxnSpPr>
          <p:nvPr/>
        </p:nvCxnSpPr>
        <p:spPr bwMode="auto">
          <a:xfrm>
            <a:off x="1487805" y="3226758"/>
            <a:ext cx="0" cy="399415"/>
          </a:xfrm>
          <a:prstGeom prst="straightConnector1">
            <a:avLst/>
          </a:prstGeom>
          <a:ln w="6350">
            <a:solidFill>
              <a:srgbClr val="7451F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386935D-87B2-BB35-59CC-4E8D56450E95}"/>
              </a:ext>
            </a:extLst>
          </p:cNvPr>
          <p:cNvCxnSpPr>
            <a:cxnSpLocks/>
          </p:cNvCxnSpPr>
          <p:nvPr/>
        </p:nvCxnSpPr>
        <p:spPr bwMode="auto">
          <a:xfrm>
            <a:off x="3880485" y="3226758"/>
            <a:ext cx="0" cy="399415"/>
          </a:xfrm>
          <a:prstGeom prst="straightConnector1">
            <a:avLst/>
          </a:prstGeom>
          <a:ln w="6350">
            <a:solidFill>
              <a:srgbClr val="7451F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7F8917F-0F52-478C-47B8-45FCF407B781}"/>
              </a:ext>
            </a:extLst>
          </p:cNvPr>
          <p:cNvSpPr/>
          <p:nvPr/>
        </p:nvSpPr>
        <p:spPr bwMode="auto">
          <a:xfrm>
            <a:off x="6095999" y="933452"/>
            <a:ext cx="5568951" cy="53763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609585">
              <a:buSzPct val="100000"/>
            </a:pPr>
            <a:r>
              <a:rPr lang="ru-RU" sz="1867" kern="0" dirty="0">
                <a:solidFill>
                  <a:srgbClr val="F8F8F8">
                    <a:lumMod val="25000"/>
                    <a:alpha val="50000"/>
                  </a:srgbClr>
                </a:solidFill>
                <a:latin typeface="Yandex Sans Text Medium" pitchFamily="2" charset="-52"/>
                <a:cs typeface="Arial"/>
              </a:rPr>
              <a:t>Аргументация выбора лучшей комбинации</a:t>
            </a:r>
            <a:endParaRPr lang="en-GB" sz="1867" kern="0" dirty="0">
              <a:solidFill>
                <a:srgbClr val="F8F8F8">
                  <a:lumMod val="25000"/>
                  <a:alpha val="50000"/>
                </a:srgbClr>
              </a:solidFill>
              <a:latin typeface="Yandex Sans Text Medium" pitchFamily="2" charset="-52"/>
              <a:cs typeface="Arial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0ABFD75-0A1B-DE99-D3D9-5173FC957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075" y="1450596"/>
            <a:ext cx="2350392" cy="149432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9A0D17E-5B3A-AD18-81F6-7C52E5746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131" y="1450596"/>
            <a:ext cx="2362492" cy="1494329"/>
          </a:xfrm>
          <a:prstGeom prst="rect">
            <a:avLst/>
          </a:prstGeom>
        </p:spPr>
      </p:pic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7BEF1B20-DD44-DF3F-2D94-A357B31FB96F}"/>
              </a:ext>
            </a:extLst>
          </p:cNvPr>
          <p:cNvGraphicFramePr>
            <a:graphicFrameLocks noGrp="1"/>
          </p:cNvGraphicFramePr>
          <p:nvPr/>
        </p:nvGraphicFramePr>
        <p:xfrm>
          <a:off x="6096002" y="3326087"/>
          <a:ext cx="5568949" cy="1198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6635">
                  <a:extLst>
                    <a:ext uri="{9D8B030D-6E8A-4147-A177-3AD203B41FA5}">
                      <a16:colId xmlns:a16="http://schemas.microsoft.com/office/drawing/2014/main" val="3912473403"/>
                    </a:ext>
                  </a:extLst>
                </a:gridCol>
                <a:gridCol w="1816157">
                  <a:extLst>
                    <a:ext uri="{9D8B030D-6E8A-4147-A177-3AD203B41FA5}">
                      <a16:colId xmlns:a16="http://schemas.microsoft.com/office/drawing/2014/main" val="2469871375"/>
                    </a:ext>
                  </a:extLst>
                </a:gridCol>
                <a:gridCol w="1816157">
                  <a:extLst>
                    <a:ext uri="{9D8B030D-6E8A-4147-A177-3AD203B41FA5}">
                      <a16:colId xmlns:a16="http://schemas.microsoft.com/office/drawing/2014/main" val="1348246801"/>
                    </a:ext>
                  </a:extLst>
                </a:gridCol>
              </a:tblGrid>
              <a:tr h="392432">
                <a:tc>
                  <a:txBody>
                    <a:bodyPr/>
                    <a:lstStyle/>
                    <a:p>
                      <a:pPr algn="ctr"/>
                      <a:r>
                        <a:rPr lang="ru-RU" sz="15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Yandex Sans Text Medium" pitchFamily="2" charset="-52"/>
                        </a:rPr>
                        <a:t>Комбинация</a:t>
                      </a:r>
                      <a:endParaRPr lang="en-GB" sz="1500" b="0" dirty="0">
                        <a:solidFill>
                          <a:schemeClr val="bg2">
                            <a:lumMod val="25000"/>
                          </a:schemeClr>
                        </a:solidFill>
                        <a:latin typeface="Yandex Sans Text Medium" pitchFamily="2" charset="-52"/>
                      </a:endParaRPr>
                    </a:p>
                  </a:txBody>
                  <a:tcPr marL="121920" marR="121920" marT="60960" marB="6096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381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Yandex Sans Text Medium" pitchFamily="2" charset="-52"/>
                        </a:rPr>
                        <a:t>Досмотры/час</a:t>
                      </a:r>
                      <a:endParaRPr lang="en-GB" sz="1500" b="0" dirty="0">
                        <a:solidFill>
                          <a:schemeClr val="bg2">
                            <a:lumMod val="25000"/>
                            <a:alpha val="50000"/>
                          </a:schemeClr>
                        </a:solidFill>
                        <a:latin typeface="Yandex Sans Text Medium" pitchFamily="2" charset="-52"/>
                      </a:endParaRPr>
                    </a:p>
                  </a:txBody>
                  <a:tcPr marL="121920" marR="121920" marT="60960" marB="6096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381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Yandex Sans Text Medium" pitchFamily="2" charset="-52"/>
                        </a:rPr>
                        <a:t>Save Rate</a:t>
                      </a:r>
                      <a:r>
                        <a:rPr lang="en-US" sz="1300" b="0" dirty="0">
                          <a:solidFill>
                            <a:schemeClr val="bg2">
                              <a:lumMod val="25000"/>
                              <a:alpha val="50000"/>
                            </a:schemeClr>
                          </a:solidFill>
                          <a:latin typeface="Yandex Sans Text Medium" pitchFamily="2" charset="-52"/>
                        </a:rPr>
                        <a:t>, %</a:t>
                      </a:r>
                      <a:endParaRPr lang="en-GB" sz="1500" b="0" dirty="0">
                        <a:solidFill>
                          <a:schemeClr val="bg2">
                            <a:lumMod val="25000"/>
                            <a:alpha val="50000"/>
                          </a:schemeClr>
                        </a:solidFill>
                        <a:latin typeface="Yandex Sans Text Medium" pitchFamily="2" charset="-52"/>
                      </a:endParaRPr>
                    </a:p>
                  </a:txBody>
                  <a:tcPr marL="121920" marR="121920" marT="60960" marB="6096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381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250803"/>
                  </a:ext>
                </a:extLst>
              </a:tr>
              <a:tr h="402792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Yandex Sans Text Regular" pitchFamily="2" charset="-52"/>
                          <a:ea typeface="+mn-ea"/>
                          <a:cs typeface="+mn-cs"/>
                        </a:rPr>
                        <a:t>Карточки х Технологии</a:t>
                      </a:r>
                      <a:endParaRPr lang="en-GB" sz="1100" dirty="0">
                        <a:solidFill>
                          <a:schemeClr val="bg2">
                            <a:lumMod val="25000"/>
                          </a:schemeClr>
                        </a:solidFill>
                        <a:latin typeface="Yandex Sans Text Regular" pitchFamily="2" charset="-52"/>
                        <a:ea typeface="+mn-ea"/>
                        <a:cs typeface="+mn-cs"/>
                      </a:endParaRPr>
                    </a:p>
                  </a:txBody>
                  <a:tcPr marL="121920" marR="121920" marT="96000" marB="96000" anchor="ctr">
                    <a:lnL w="12700">
                      <a:noFill/>
                    </a:lnL>
                    <a:lnR w="12700">
                      <a:noFill/>
                    </a:lnR>
                    <a:lnT w="38100">
                      <a:noFill/>
                    </a:lnT>
                    <a:lnB w="127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Yandex Sans Text Regular" pitchFamily="2" charset="-52"/>
                        </a:rPr>
                        <a:t>144.8</a:t>
                      </a:r>
                      <a:endParaRPr lang="en-GB" sz="1100" dirty="0">
                        <a:solidFill>
                          <a:schemeClr val="bg2">
                            <a:lumMod val="25000"/>
                          </a:schemeClr>
                        </a:solidFill>
                        <a:latin typeface="Yandex Sans Text Regular" pitchFamily="2" charset="-52"/>
                      </a:endParaRPr>
                    </a:p>
                  </a:txBody>
                  <a:tcPr marL="121920" marR="121920" marT="96000" marB="96000" anchor="ctr">
                    <a:lnL w="12700">
                      <a:noFill/>
                    </a:lnL>
                    <a:lnR w="12700">
                      <a:noFill/>
                    </a:lnR>
                    <a:lnT w="38100">
                      <a:noFill/>
                    </a:lnT>
                    <a:lnB w="127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Yandex Sans Text Regular" pitchFamily="2" charset="-52"/>
                        </a:rPr>
                        <a:t>8.3</a:t>
                      </a:r>
                      <a:endParaRPr lang="en-GB" sz="1100" dirty="0">
                        <a:solidFill>
                          <a:schemeClr val="bg2">
                            <a:lumMod val="25000"/>
                          </a:schemeClr>
                        </a:solidFill>
                        <a:latin typeface="Yandex Sans Text Regular" pitchFamily="2" charset="-52"/>
                      </a:endParaRPr>
                    </a:p>
                  </a:txBody>
                  <a:tcPr marL="121920" marR="121920" marT="96000" marB="96000" anchor="ctr">
                    <a:lnL w="12700">
                      <a:noFill/>
                    </a:lnL>
                    <a:lnR w="12700">
                      <a:noFill/>
                    </a:lnR>
                    <a:lnT w="38100">
                      <a:noFill/>
                    </a:lnT>
                    <a:lnB w="127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004345"/>
                  </a:ext>
                </a:extLst>
              </a:tr>
              <a:tr h="402792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Yandex Sans Text Medium" pitchFamily="2" charset="-52"/>
                          <a:ea typeface="+mn-ea"/>
                          <a:cs typeface="+mn-cs"/>
                        </a:rPr>
                        <a:t>Карточки х Карьера</a:t>
                      </a:r>
                      <a:endParaRPr lang="en-GB" sz="1100" dirty="0">
                        <a:solidFill>
                          <a:schemeClr val="bg2">
                            <a:lumMod val="25000"/>
                          </a:schemeClr>
                        </a:solidFill>
                        <a:latin typeface="Yandex Sans Text Medium" pitchFamily="2" charset="-52"/>
                        <a:ea typeface="+mn-ea"/>
                        <a:cs typeface="+mn-cs"/>
                      </a:endParaRPr>
                    </a:p>
                  </a:txBody>
                  <a:tcPr marL="121920" marR="121920" marT="96000" marB="9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51F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Yandex Sans Text Medium" pitchFamily="2" charset="-52"/>
                          <a:ea typeface="+mn-ea"/>
                          <a:cs typeface="+mn-cs"/>
                        </a:rPr>
                        <a:t>140.5</a:t>
                      </a:r>
                      <a:endParaRPr lang="en-GB" sz="1100" dirty="0">
                        <a:solidFill>
                          <a:schemeClr val="bg2">
                            <a:lumMod val="25000"/>
                          </a:schemeClr>
                        </a:solidFill>
                        <a:latin typeface="Yandex Sans Text Medium" pitchFamily="2" charset="-52"/>
                        <a:ea typeface="+mn-ea"/>
                        <a:cs typeface="+mn-cs"/>
                      </a:endParaRPr>
                    </a:p>
                  </a:txBody>
                  <a:tcPr marL="121920" marR="121920" marT="96000" marB="9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51F4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Yandex Sans Text Medium" pitchFamily="2" charset="-52"/>
                          <a:ea typeface="+mn-ea"/>
                          <a:cs typeface="+mn-cs"/>
                        </a:rPr>
                        <a:t>13.6</a:t>
                      </a:r>
                      <a:endParaRPr lang="en-GB" sz="1100" dirty="0">
                        <a:solidFill>
                          <a:schemeClr val="bg2">
                            <a:lumMod val="25000"/>
                          </a:schemeClr>
                        </a:solidFill>
                        <a:latin typeface="Yandex Sans Text Medium" pitchFamily="2" charset="-52"/>
                        <a:ea typeface="+mn-ea"/>
                        <a:cs typeface="+mn-cs"/>
                      </a:endParaRPr>
                    </a:p>
                  </a:txBody>
                  <a:tcPr marL="121920" marR="121920" marT="96000" marB="9600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51F4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586949"/>
                  </a:ext>
                </a:extLst>
              </a:tr>
            </a:tbl>
          </a:graphicData>
        </a:graphic>
      </p:graphicFrame>
      <p:sp>
        <p:nvSpPr>
          <p:cNvPr id="37" name="Graphic 12">
            <a:extLst>
              <a:ext uri="{FF2B5EF4-FFF2-40B4-BE49-F238E27FC236}">
                <a16:creationId xmlns:a16="http://schemas.microsoft.com/office/drawing/2014/main" id="{E5C27404-9A77-B0D9-C261-E8BA1702928A}"/>
              </a:ext>
            </a:extLst>
          </p:cNvPr>
          <p:cNvSpPr>
            <a:spLocks/>
          </p:cNvSpPr>
          <p:nvPr/>
        </p:nvSpPr>
        <p:spPr bwMode="auto">
          <a:xfrm flipH="1" flipV="1">
            <a:off x="7119444" y="3040917"/>
            <a:ext cx="812773" cy="143456"/>
          </a:xfrm>
          <a:custGeom>
            <a:avLst/>
            <a:gdLst>
              <a:gd name="connsiteX0" fmla="*/ 0 w 2208085"/>
              <a:gd name="connsiteY0" fmla="*/ 1015556 h 1015555"/>
              <a:gd name="connsiteX1" fmla="*/ 1104043 w 2208085"/>
              <a:gd name="connsiteY1" fmla="*/ 0 h 1015555"/>
              <a:gd name="connsiteX2" fmla="*/ 2208086 w 2208085"/>
              <a:gd name="connsiteY2" fmla="*/ 1015556 h 1015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08085" h="1015555">
                <a:moveTo>
                  <a:pt x="0" y="1015556"/>
                </a:moveTo>
                <a:lnTo>
                  <a:pt x="1104043" y="0"/>
                </a:lnTo>
                <a:lnTo>
                  <a:pt x="2208086" y="1015556"/>
                </a:lnTo>
              </a:path>
            </a:pathLst>
          </a:custGeom>
          <a:noFill/>
          <a:ln w="12700" cap="rnd">
            <a:solidFill>
              <a:schemeClr val="bg2">
                <a:lumMod val="25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pPr defTabSz="1219170">
              <a:defRPr/>
            </a:pPr>
            <a:endParaRPr lang="en-US" sz="1867" dirty="0">
              <a:solidFill>
                <a:prstClr val="black"/>
              </a:solidFill>
              <a:latin typeface="Aptos" panose="02110004020202020204"/>
              <a:cs typeface="Arial"/>
            </a:endParaRPr>
          </a:p>
        </p:txBody>
      </p:sp>
      <p:sp>
        <p:nvSpPr>
          <p:cNvPr id="38" name="Graphic 12">
            <a:extLst>
              <a:ext uri="{FF2B5EF4-FFF2-40B4-BE49-F238E27FC236}">
                <a16:creationId xmlns:a16="http://schemas.microsoft.com/office/drawing/2014/main" id="{5E4FEE39-F5CA-4631-3F73-15CC264166E8}"/>
              </a:ext>
            </a:extLst>
          </p:cNvPr>
          <p:cNvSpPr>
            <a:spLocks/>
          </p:cNvSpPr>
          <p:nvPr/>
        </p:nvSpPr>
        <p:spPr bwMode="auto">
          <a:xfrm flipH="1" flipV="1">
            <a:off x="9858183" y="3040917"/>
            <a:ext cx="812773" cy="143456"/>
          </a:xfrm>
          <a:custGeom>
            <a:avLst/>
            <a:gdLst>
              <a:gd name="connsiteX0" fmla="*/ 0 w 2208085"/>
              <a:gd name="connsiteY0" fmla="*/ 1015556 h 1015555"/>
              <a:gd name="connsiteX1" fmla="*/ 1104043 w 2208085"/>
              <a:gd name="connsiteY1" fmla="*/ 0 h 1015555"/>
              <a:gd name="connsiteX2" fmla="*/ 2208086 w 2208085"/>
              <a:gd name="connsiteY2" fmla="*/ 1015556 h 1015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08085" h="1015555">
                <a:moveTo>
                  <a:pt x="0" y="1015556"/>
                </a:moveTo>
                <a:lnTo>
                  <a:pt x="1104043" y="0"/>
                </a:lnTo>
                <a:lnTo>
                  <a:pt x="2208086" y="1015556"/>
                </a:lnTo>
              </a:path>
            </a:pathLst>
          </a:custGeom>
          <a:noFill/>
          <a:ln w="12700" cap="rnd">
            <a:solidFill>
              <a:schemeClr val="bg2">
                <a:lumMod val="25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pPr defTabSz="1219170">
              <a:defRPr/>
            </a:pPr>
            <a:endParaRPr lang="en-US" sz="1867" dirty="0">
              <a:solidFill>
                <a:prstClr val="black"/>
              </a:solidFill>
              <a:latin typeface="Aptos" panose="02110004020202020204"/>
              <a:cs typeface="Arial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CA10961-2EDB-7E8E-7A7B-B54BCA78AAD0}"/>
              </a:ext>
            </a:extLst>
          </p:cNvPr>
          <p:cNvCxnSpPr>
            <a:cxnSpLocks/>
          </p:cNvCxnSpPr>
          <p:nvPr/>
        </p:nvCxnSpPr>
        <p:spPr bwMode="auto">
          <a:xfrm>
            <a:off x="6096002" y="3326087"/>
            <a:ext cx="5568949" cy="0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833AD27E-7E0B-F5C5-E2EB-0A52953C3E1E}"/>
              </a:ext>
            </a:extLst>
          </p:cNvPr>
          <p:cNvSpPr txBox="1"/>
          <p:nvPr/>
        </p:nvSpPr>
        <p:spPr>
          <a:xfrm>
            <a:off x="6096001" y="4564741"/>
            <a:ext cx="5705855" cy="85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2764" indent="-122764" defTabSz="609585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Medium" pitchFamily="2" charset="-52"/>
                <a:cs typeface="Arial"/>
              </a:rPr>
              <a:t>Карточки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Medium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Medium" pitchFamily="2" charset="-52"/>
                <a:cs typeface="Arial"/>
              </a:rPr>
              <a:t>дают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Medium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Medium" pitchFamily="2" charset="-52"/>
                <a:cs typeface="Arial"/>
              </a:rPr>
              <a:t>больше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Medium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Medium" pitchFamily="2" charset="-52"/>
                <a:cs typeface="Arial"/>
              </a:rPr>
              <a:t>досмотров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Medium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Medium" pitchFamily="2" charset="-52"/>
                <a:cs typeface="Arial"/>
              </a:rPr>
              <a:t>на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Medium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Medium" pitchFamily="2" charset="-52"/>
                <a:cs typeface="Arial"/>
              </a:rPr>
              <a:t>час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Display Regular" pitchFamily="2" charset="-52"/>
                <a:cs typeface="Arial"/>
              </a:rPr>
              <a:t>,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чем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другие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форматы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, в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каждой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из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тем</a:t>
            </a:r>
            <a:endParaRPr lang="en-GB" sz="1067" kern="0" dirty="0">
              <a:solidFill>
                <a:srgbClr val="F8F8F8">
                  <a:lumMod val="25000"/>
                </a:srgbClr>
              </a:solidFill>
              <a:latin typeface="Yandex Sans Text Regular" pitchFamily="2" charset="-52"/>
              <a:cs typeface="Arial"/>
            </a:endParaRPr>
          </a:p>
          <a:p>
            <a:pPr marL="122764" indent="-122764" defTabSz="609585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Карьерные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карточки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уступают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лидеру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по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 CVPH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примерно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на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 3%</a:t>
            </a:r>
          </a:p>
          <a:p>
            <a:pPr marL="122764" indent="-122764" defTabSz="609585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Medium" pitchFamily="2" charset="-52"/>
                <a:cs typeface="Arial"/>
              </a:rPr>
              <a:t>Карьерные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Medium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Medium" pitchFamily="2" charset="-52"/>
                <a:cs typeface="Arial"/>
              </a:rPr>
              <a:t>карточки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Medium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Medium" pitchFamily="2" charset="-52"/>
                <a:cs typeface="Arial"/>
              </a:rPr>
              <a:t>сохраняют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Medium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Medium" pitchFamily="2" charset="-52"/>
                <a:cs typeface="Arial"/>
              </a:rPr>
              <a:t>чаще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Medium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Medium" pitchFamily="2" charset="-52"/>
                <a:cs typeface="Arial"/>
              </a:rPr>
              <a:t>технологических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Medium" pitchFamily="2" charset="-52"/>
                <a:cs typeface="Arial"/>
              </a:rPr>
              <a:t>: 13,63%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Medium" pitchFamily="2" charset="-52"/>
                <a:cs typeface="Arial"/>
              </a:rPr>
              <a:t>против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Medium" pitchFamily="2" charset="-52"/>
                <a:cs typeface="Arial"/>
              </a:rPr>
              <a:t> 8,25%. </a:t>
            </a:r>
            <a:br>
              <a:rPr lang="ru-RU" sz="1067" kern="0" dirty="0">
                <a:solidFill>
                  <a:srgbClr val="F8F8F8">
                    <a:lumMod val="25000"/>
                  </a:srgbClr>
                </a:solidFill>
                <a:latin typeface="Yandex Sans Display Regular" pitchFamily="2" charset="-52"/>
                <a:cs typeface="Arial"/>
              </a:rPr>
            </a:b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У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карточек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 о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деньгах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доля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сохранений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ещё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выше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ru-RU" sz="1067" kern="0" dirty="0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-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 13,92%,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но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 CVPH </a:t>
            </a:r>
            <a:r>
              <a:rPr lang="en-GB" sz="1067" kern="0" dirty="0" err="1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ниже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ru-RU" sz="1067" kern="0" dirty="0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-</a:t>
            </a:r>
            <a:r>
              <a:rPr lang="en-GB" sz="1067" kern="0" dirty="0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 124,8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933D565-E9BE-4398-E1D9-5C579C63DDDB}"/>
              </a:ext>
            </a:extLst>
          </p:cNvPr>
          <p:cNvSpPr/>
          <p:nvPr/>
        </p:nvSpPr>
        <p:spPr bwMode="auto">
          <a:xfrm>
            <a:off x="6095998" y="5487674"/>
            <a:ext cx="5568949" cy="821484"/>
          </a:xfrm>
          <a:prstGeom prst="rect">
            <a:avLst/>
          </a:prstGeom>
          <a:solidFill>
            <a:srgbClr val="745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09585">
              <a:buSzPct val="100000"/>
            </a:pPr>
            <a:r>
              <a:rPr lang="ru-RU" sz="1867" kern="0" dirty="0">
                <a:solidFill>
                  <a:prstClr val="white"/>
                </a:solidFill>
                <a:latin typeface="Yandex Sans Text Bold" pitchFamily="2" charset="-52"/>
                <a:cs typeface="Arial"/>
              </a:rPr>
              <a:t>КАРТОЧКИ х КАРЬЕРА</a:t>
            </a:r>
          </a:p>
          <a:p>
            <a:pPr defTabSz="609585">
              <a:buSzPct val="100000"/>
            </a:pPr>
            <a:r>
              <a:rPr lang="ru-RU" sz="1333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Наиболее ценный материал с минимальными трудозатратами</a:t>
            </a:r>
            <a:endParaRPr lang="en-GB" sz="1333" kern="0" dirty="0">
              <a:solidFill>
                <a:prstClr val="white"/>
              </a:solidFill>
              <a:latin typeface="Yandex Sans Text Medium" pitchFamily="2" charset="-52"/>
              <a:cs typeface="Arial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57E1F29-3B0C-37A1-AAC6-884973757148}"/>
              </a:ext>
            </a:extLst>
          </p:cNvPr>
          <p:cNvSpPr txBox="1"/>
          <p:nvPr/>
        </p:nvSpPr>
        <p:spPr bwMode="auto">
          <a:xfrm>
            <a:off x="11412191" y="6359128"/>
            <a:ext cx="866141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585"/>
            <a:r>
              <a:rPr lang="en-US" sz="1467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 </a:t>
            </a:r>
            <a:fld id="{182F0A8F-E3DD-4F47-BE7A-C55C43CE4503}" type="slidenum">
              <a:rPr lang="en-US" sz="1467" kern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pPr defTabSz="609585"/>
              <a:t>2</a:t>
            </a:fld>
            <a:endParaRPr lang="en-GB" sz="1467" kern="0" dirty="0">
              <a:solidFill>
                <a:prstClr val="white"/>
              </a:solidFill>
              <a:latin typeface="Yandex Sans Text Medium" pitchFamily="2" charset="-5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9789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E8639-6ED6-A72E-CCF0-E99FE0D15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EFB7C94-7AE3-B77C-1D40-D080EA52C9E2}"/>
              </a:ext>
            </a:extLst>
          </p:cNvPr>
          <p:cNvCxnSpPr/>
          <p:nvPr/>
        </p:nvCxnSpPr>
        <p:spPr bwMode="auto">
          <a:xfrm flipH="1">
            <a:off x="6350000" y="5326543"/>
            <a:ext cx="378905" cy="0"/>
          </a:xfrm>
          <a:prstGeom prst="straightConnector1">
            <a:avLst/>
          </a:prstGeom>
          <a:ln w="3175">
            <a:solidFill>
              <a:srgbClr val="DDF365"/>
            </a:solidFill>
            <a:tail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2E143D1-B460-0322-20CE-2622749FC975}"/>
              </a:ext>
            </a:extLst>
          </p:cNvPr>
          <p:cNvCxnSpPr/>
          <p:nvPr/>
        </p:nvCxnSpPr>
        <p:spPr bwMode="auto">
          <a:xfrm flipH="1">
            <a:off x="6350000" y="3751743"/>
            <a:ext cx="378905" cy="0"/>
          </a:xfrm>
          <a:prstGeom prst="straightConnector1">
            <a:avLst/>
          </a:prstGeom>
          <a:ln w="3175">
            <a:solidFill>
              <a:srgbClr val="DDF365"/>
            </a:solidFill>
            <a:tailEnd type="oval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C1881553-41EB-2882-0828-6D375D240596}"/>
              </a:ext>
            </a:extLst>
          </p:cNvPr>
          <p:cNvSpPr txBox="1">
            <a:spLocks/>
          </p:cNvSpPr>
          <p:nvPr/>
        </p:nvSpPr>
        <p:spPr bwMode="auto">
          <a:xfrm>
            <a:off x="392396" y="215166"/>
            <a:ext cx="12324323" cy="703045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 fontScale="52500" lnSpcReduction="20000"/>
          </a:bodyPr>
          <a:lstStyle>
            <a:lvl1pPr algn="l" defTabSz="457200">
              <a:spcBef>
                <a:spcPts val="0"/>
              </a:spcBef>
              <a:buNone/>
              <a:defRPr sz="3200" b="1" i="0">
                <a:solidFill>
                  <a:schemeClr val="bg1"/>
                </a:solidFill>
                <a:latin typeface="Golos Text DemiBold"/>
                <a:ea typeface="+mj-ea"/>
                <a:cs typeface="+mj-cs"/>
              </a:defRPr>
            </a:lvl1pPr>
          </a:lstStyle>
          <a:p>
            <a:pPr defTabSz="609585">
              <a:defRPr/>
            </a:pPr>
            <a:r>
              <a:rPr lang="ru-RU" sz="4533" kern="0" dirty="0">
                <a:solidFill>
                  <a:prstClr val="white"/>
                </a:solidFill>
                <a:latin typeface="Yandex Sans Display Bold" pitchFamily="2" charset="-52"/>
                <a:cs typeface="Arial"/>
              </a:rPr>
              <a:t>КАРТОЧКИ О КАРЬЕРЕ</a:t>
            </a:r>
            <a:br>
              <a:rPr lang="ru-RU" sz="4267" kern="0" dirty="0">
                <a:solidFill>
                  <a:prstClr val="white"/>
                </a:solidFill>
                <a:latin typeface="Yandex Sans Display Bold" pitchFamily="2" charset="-52"/>
                <a:cs typeface="Arial"/>
              </a:rPr>
            </a:br>
            <a:r>
              <a:rPr lang="ru-RU" sz="4267" b="0" kern="0" dirty="0">
                <a:solidFill>
                  <a:prstClr val="white"/>
                </a:solidFill>
                <a:latin typeface="Yandex Sans Display Bold" pitchFamily="2" charset="-52"/>
                <a:cs typeface="Arial"/>
              </a:rPr>
              <a:t>золотая середина между краткосрочной и долгосрочной эффективность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2F8E831-CBB6-D157-45C1-6D63B063F623}"/>
              </a:ext>
            </a:extLst>
          </p:cNvPr>
          <p:cNvSpPr txBox="1"/>
          <p:nvPr/>
        </p:nvSpPr>
        <p:spPr>
          <a:xfrm>
            <a:off x="6626343" y="4795520"/>
            <a:ext cx="5038608" cy="1513637"/>
          </a:xfrm>
          <a:prstGeom prst="rect">
            <a:avLst/>
          </a:prstGeom>
          <a:solidFill>
            <a:srgbClr val="141414"/>
          </a:solidFill>
          <a:ln w="3175">
            <a:solidFill>
              <a:srgbClr val="DDF365"/>
            </a:solidFill>
          </a:ln>
        </p:spPr>
        <p:txBody>
          <a:bodyPr wrap="square" anchor="b">
            <a:noAutofit/>
          </a:bodyPr>
          <a:lstStyle/>
          <a:p>
            <a:pPr defTabSz="609585"/>
            <a:r>
              <a:rPr lang="en-GB" sz="1400" kern="0" dirty="0" err="1">
                <a:solidFill>
                  <a:srgbClr val="DDF365"/>
                </a:solidFill>
                <a:latin typeface="Yandex Sans Text Medium" pitchFamily="2" charset="-52"/>
                <a:cs typeface="Arial"/>
              </a:rPr>
              <a:t>Какое</a:t>
            </a:r>
            <a:r>
              <a:rPr lang="en-GB" sz="1400" kern="0" dirty="0">
                <a:solidFill>
                  <a:srgbClr val="DDF365"/>
                </a:solidFill>
                <a:latin typeface="Yandex Sans Text Medium" pitchFamily="2" charset="-52"/>
                <a:cs typeface="Arial"/>
              </a:rPr>
              <a:t> </a:t>
            </a:r>
            <a:r>
              <a:rPr lang="en-GB" sz="1400" kern="0" dirty="0" err="1">
                <a:solidFill>
                  <a:srgbClr val="DDF365"/>
                </a:solidFill>
                <a:latin typeface="Yandex Sans Text Medium" pitchFamily="2" charset="-52"/>
                <a:cs typeface="Arial"/>
              </a:rPr>
              <a:t>решение</a:t>
            </a:r>
            <a:r>
              <a:rPr lang="en-GB" sz="1400" kern="0" dirty="0">
                <a:solidFill>
                  <a:srgbClr val="DDF365"/>
                </a:solidFill>
                <a:latin typeface="Yandex Sans Text Medium" pitchFamily="2" charset="-52"/>
                <a:cs typeface="Arial"/>
              </a:rPr>
              <a:t> </a:t>
            </a:r>
            <a:r>
              <a:rPr lang="en-GB" sz="1400" kern="0" dirty="0" err="1">
                <a:solidFill>
                  <a:srgbClr val="DDF365"/>
                </a:solidFill>
                <a:latin typeface="Yandex Sans Text Medium" pitchFamily="2" charset="-52"/>
                <a:cs typeface="Arial"/>
              </a:rPr>
              <a:t>по</a:t>
            </a:r>
            <a:r>
              <a:rPr lang="en-GB" sz="1400" kern="0" dirty="0">
                <a:solidFill>
                  <a:srgbClr val="DDF365"/>
                </a:solidFill>
                <a:latin typeface="Yandex Sans Text Medium" pitchFamily="2" charset="-52"/>
                <a:cs typeface="Arial"/>
              </a:rPr>
              <a:t> </a:t>
            </a:r>
            <a:r>
              <a:rPr lang="en-GB" sz="1400" kern="0" dirty="0" err="1">
                <a:solidFill>
                  <a:srgbClr val="DDF365"/>
                </a:solidFill>
                <a:latin typeface="Yandex Sans Text Medium" pitchFamily="2" charset="-52"/>
                <a:cs typeface="Arial"/>
              </a:rPr>
              <a:t>данным</a:t>
            </a:r>
            <a:r>
              <a:rPr lang="en-GB" sz="1400" kern="0" dirty="0">
                <a:solidFill>
                  <a:srgbClr val="DDF365"/>
                </a:solidFill>
                <a:latin typeface="Yandex Sans Text Medium" pitchFamily="2" charset="-52"/>
                <a:cs typeface="Arial"/>
              </a:rPr>
              <a:t> </a:t>
            </a:r>
            <a:r>
              <a:rPr lang="en-GB" sz="1400" kern="0" dirty="0" err="1">
                <a:solidFill>
                  <a:srgbClr val="DDF365"/>
                </a:solidFill>
                <a:latin typeface="Yandex Sans Text Medium" pitchFamily="2" charset="-52"/>
                <a:cs typeface="Arial"/>
              </a:rPr>
              <a:t>повлияло</a:t>
            </a:r>
            <a:r>
              <a:rPr lang="en-GB" sz="1400" kern="0" dirty="0">
                <a:solidFill>
                  <a:srgbClr val="DDF365"/>
                </a:solidFill>
                <a:latin typeface="Yandex Sans Text Medium" pitchFamily="2" charset="-52"/>
                <a:cs typeface="Arial"/>
              </a:rPr>
              <a:t> </a:t>
            </a:r>
            <a:r>
              <a:rPr lang="en-GB" sz="1400" kern="0" dirty="0" err="1">
                <a:solidFill>
                  <a:srgbClr val="DDF365"/>
                </a:solidFill>
                <a:latin typeface="Yandex Sans Text Medium" pitchFamily="2" charset="-52"/>
                <a:cs typeface="Arial"/>
              </a:rPr>
              <a:t>сильнее</a:t>
            </a:r>
            <a:r>
              <a:rPr lang="en-GB" sz="1400" kern="0" dirty="0">
                <a:solidFill>
                  <a:srgbClr val="DDF365"/>
                </a:solidFill>
                <a:latin typeface="Yandex Sans Text Medium" pitchFamily="2" charset="-52"/>
                <a:cs typeface="Arial"/>
              </a:rPr>
              <a:t> </a:t>
            </a:r>
            <a:r>
              <a:rPr lang="en-GB" sz="1400" kern="0" dirty="0" err="1">
                <a:solidFill>
                  <a:srgbClr val="DDF365"/>
                </a:solidFill>
                <a:latin typeface="Yandex Sans Text Medium" pitchFamily="2" charset="-52"/>
                <a:cs typeface="Arial"/>
              </a:rPr>
              <a:t>всего</a:t>
            </a:r>
            <a:r>
              <a:rPr lang="en-GB" sz="1400" kern="0" dirty="0">
                <a:solidFill>
                  <a:srgbClr val="DDF365"/>
                </a:solidFill>
                <a:latin typeface="Yandex Sans Text Medium" pitchFamily="2" charset="-52"/>
                <a:cs typeface="Arial"/>
              </a:rPr>
              <a:t>?</a:t>
            </a:r>
            <a:endParaRPr lang="ru-RU" sz="1400" kern="0" dirty="0">
              <a:solidFill>
                <a:srgbClr val="DDF365"/>
              </a:solidFill>
              <a:latin typeface="Yandex Sans Text Medium" pitchFamily="2" charset="-52"/>
              <a:cs typeface="Arial"/>
            </a:endParaRPr>
          </a:p>
          <a:p>
            <a:pPr defTabSz="609585"/>
            <a:r>
              <a:rPr lang="ru-RU" sz="1067" kern="0" dirty="0">
                <a:solidFill>
                  <a:prstClr val="white"/>
                </a:solidFill>
                <a:latin typeface="Yandex Sans Display Regular" pitchFamily="2" charset="-52"/>
                <a:cs typeface="Arial"/>
              </a:rPr>
              <a:t>Я</a:t>
            </a:r>
            <a:r>
              <a:rPr lang="en-GB" sz="1067" kern="0" dirty="0">
                <a:solidFill>
                  <a:prstClr val="white"/>
                </a:solidFill>
                <a:latin typeface="Yandex Sans Display Regular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обрабатывал</a:t>
            </a:r>
            <a:r>
              <a:rPr lang="en-GB" sz="1067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пропуски</a:t>
            </a:r>
            <a:r>
              <a:rPr lang="en-GB" sz="1067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отдельно</a:t>
            </a:r>
            <a:r>
              <a:rPr lang="en-GB" sz="1067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для</a:t>
            </a:r>
            <a:r>
              <a:rPr lang="en-GB" sz="1067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каждой</a:t>
            </a:r>
            <a:r>
              <a:rPr lang="en-GB" sz="1067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метрики</a:t>
            </a:r>
            <a:r>
              <a:rPr lang="en-GB" sz="1067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. </a:t>
            </a:r>
            <a:r>
              <a:rPr lang="en-GB" sz="1067" kern="0" dirty="0" err="1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Публикацию</a:t>
            </a:r>
            <a:r>
              <a:rPr lang="en-GB" sz="1067" kern="0" dirty="0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без</a:t>
            </a:r>
            <a:r>
              <a:rPr lang="en-GB" sz="1067" kern="0" dirty="0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числа</a:t>
            </a:r>
            <a:r>
              <a:rPr lang="en-GB" sz="1067" kern="0" dirty="0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сохранений</a:t>
            </a:r>
            <a:r>
              <a:rPr lang="en-GB" sz="1067" kern="0" dirty="0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оставил</a:t>
            </a:r>
            <a:r>
              <a:rPr lang="en-GB" sz="1067" kern="0" dirty="0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 в </a:t>
            </a:r>
            <a:r>
              <a:rPr lang="en-GB" sz="1067" kern="0" dirty="0" err="1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расчёте</a:t>
            </a:r>
            <a:r>
              <a:rPr lang="en-GB" sz="1067" kern="0" dirty="0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досмотров</a:t>
            </a:r>
            <a:r>
              <a:rPr lang="en-GB" sz="1067" kern="0" dirty="0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на</a:t>
            </a:r>
            <a:r>
              <a:rPr lang="en-GB" sz="1067" kern="0" dirty="0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час</a:t>
            </a:r>
            <a:r>
              <a:rPr lang="en-GB" sz="1067" kern="0" dirty="0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: </a:t>
            </a:r>
            <a:r>
              <a:rPr lang="ru-RU" sz="1067" kern="0" dirty="0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для карьерных карточек при удалении всей строки</a:t>
            </a:r>
            <a:r>
              <a:rPr lang="ru-RU" sz="1067" kern="0" dirty="0">
                <a:solidFill>
                  <a:prstClr val="white">
                    <a:alpha val="60000"/>
                  </a:prstClr>
                </a:solidFill>
                <a:latin typeface="Yandex Sans Display Regular" pitchFamily="2" charset="-52"/>
                <a:cs typeface="Arial"/>
              </a:rPr>
              <a:t> </a:t>
            </a:r>
            <a:r>
              <a:rPr lang="ru-RU" sz="1067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показатель падает с </a:t>
            </a:r>
            <a:r>
              <a:rPr lang="en-GB" sz="1067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140</a:t>
            </a:r>
            <a:r>
              <a:rPr lang="ru-RU" sz="1067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.</a:t>
            </a:r>
            <a:r>
              <a:rPr lang="en-GB" sz="1067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5 </a:t>
            </a:r>
            <a:r>
              <a:rPr lang="ru-RU" sz="1067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до</a:t>
            </a:r>
            <a:r>
              <a:rPr lang="en-GB" sz="1067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 136</a:t>
            </a:r>
            <a:r>
              <a:rPr lang="ru-RU" sz="1067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.</a:t>
            </a:r>
            <a:r>
              <a:rPr lang="en-GB" sz="1067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6</a:t>
            </a:r>
            <a:r>
              <a:rPr lang="en-GB" sz="1067" kern="0" dirty="0">
                <a:solidFill>
                  <a:prstClr val="white">
                    <a:alpha val="60000"/>
                  </a:prstClr>
                </a:solidFill>
                <a:latin typeface="Yandex Sans Display Regular" pitchFamily="2" charset="-52"/>
                <a:cs typeface="Arial"/>
              </a:rPr>
              <a:t>. </a:t>
            </a:r>
            <a:r>
              <a:rPr lang="en-GB" sz="1067" kern="0" dirty="0" err="1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Рекомендация</a:t>
            </a:r>
            <a:r>
              <a:rPr lang="en-GB" sz="1067" kern="0" dirty="0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не</a:t>
            </a:r>
            <a:r>
              <a:rPr lang="en-GB" sz="1067" kern="0" dirty="0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изменилась</a:t>
            </a:r>
            <a:r>
              <a:rPr lang="en-GB" sz="1067" kern="0" dirty="0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, </a:t>
            </a:r>
            <a:r>
              <a:rPr lang="en-GB" sz="1067" kern="0" dirty="0" err="1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но</a:t>
            </a:r>
            <a:r>
              <a:rPr lang="en-GB" sz="1067" kern="0" dirty="0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разрыв</a:t>
            </a:r>
            <a:r>
              <a:rPr lang="en-GB" sz="1067" kern="0" dirty="0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 с </a:t>
            </a:r>
            <a:r>
              <a:rPr lang="en-GB" sz="1067" kern="0" dirty="0" err="1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технологическими</a:t>
            </a:r>
            <a:r>
              <a:rPr lang="en-GB" sz="1067" kern="0" dirty="0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карточками</a:t>
            </a:r>
            <a:r>
              <a:rPr lang="en-GB" sz="1067" kern="0" dirty="0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стал</a:t>
            </a:r>
            <a:r>
              <a:rPr lang="en-GB" sz="1067" kern="0" dirty="0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067" kern="0" dirty="0" err="1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меньше</a:t>
            </a:r>
            <a:r>
              <a:rPr lang="en-GB" sz="1067" kern="0" dirty="0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, </a:t>
            </a:r>
            <a:r>
              <a:rPr lang="ru-RU" sz="1067" kern="0" dirty="0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что </a:t>
            </a:r>
            <a:r>
              <a:rPr lang="ru-RU" sz="1067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придает значимости сравнению по </a:t>
            </a:r>
            <a:r>
              <a:rPr lang="en-US" sz="1067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Save Rate</a:t>
            </a:r>
            <a:endParaRPr lang="en-GB" sz="1067" kern="0" dirty="0">
              <a:solidFill>
                <a:prstClr val="white"/>
              </a:solidFill>
              <a:latin typeface="Yandex Sans Text Medium" pitchFamily="2" charset="-52"/>
              <a:cs typeface="Arial"/>
            </a:endParaRPr>
          </a:p>
        </p:txBody>
      </p:sp>
      <p:sp>
        <p:nvSpPr>
          <p:cNvPr id="56" name="Graphic 7">
            <a:extLst>
              <a:ext uri="{FF2B5EF4-FFF2-40B4-BE49-F238E27FC236}">
                <a16:creationId xmlns:a16="http://schemas.microsoft.com/office/drawing/2014/main" id="{6B580986-6C48-EBB9-9672-D4DA1B1385CB}"/>
              </a:ext>
            </a:extLst>
          </p:cNvPr>
          <p:cNvSpPr>
            <a:spLocks noChangeAspect="1"/>
          </p:cNvSpPr>
          <p:nvPr/>
        </p:nvSpPr>
        <p:spPr>
          <a:xfrm>
            <a:off x="6728904" y="4893603"/>
            <a:ext cx="193901" cy="258643"/>
          </a:xfrm>
          <a:custGeom>
            <a:avLst/>
            <a:gdLst>
              <a:gd name="csX0" fmla="*/ 134593 w 424509"/>
              <a:gd name="csY0" fmla="*/ 0 h 566247"/>
              <a:gd name="csX1" fmla="*/ 390126 w 424509"/>
              <a:gd name="csY1" fmla="*/ 472715 h 566247"/>
              <a:gd name="csX2" fmla="*/ 253640 w 424509"/>
              <a:gd name="csY2" fmla="*/ 566248 h 566247"/>
              <a:gd name="csX3" fmla="*/ 211845 w 424509"/>
              <a:gd name="csY3" fmla="*/ 278282 h 566247"/>
              <a:gd name="csX4" fmla="*/ 189290 w 424509"/>
              <a:gd name="csY4" fmla="*/ 263835 h 566247"/>
              <a:gd name="csX5" fmla="*/ 189290 w 424509"/>
              <a:gd name="csY5" fmla="*/ 316924 h 566247"/>
              <a:gd name="csX6" fmla="*/ 137231 w 424509"/>
              <a:gd name="csY6" fmla="*/ 412870 h 566247"/>
              <a:gd name="csX7" fmla="*/ 169985 w 424509"/>
              <a:gd name="csY7" fmla="*/ 566248 h 566247"/>
              <a:gd name="csX8" fmla="*/ 33499 w 424509"/>
              <a:gd name="csY8" fmla="*/ 235135 h 566247"/>
              <a:gd name="csX9" fmla="*/ 134593 w 424509"/>
              <a:gd name="csY9" fmla="*/ 65959 h 566247"/>
              <a:gd name="csX10" fmla="*/ 134593 w 424509"/>
              <a:gd name="csY10" fmla="*/ 0 h 5662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24509" h="566247">
                <a:moveTo>
                  <a:pt x="134593" y="0"/>
                </a:moveTo>
                <a:cubicBezTo>
                  <a:pt x="295403" y="76126"/>
                  <a:pt x="508659" y="282078"/>
                  <a:pt x="390126" y="472715"/>
                </a:cubicBezTo>
                <a:cubicBezTo>
                  <a:pt x="359689" y="521653"/>
                  <a:pt x="310204" y="554954"/>
                  <a:pt x="253640" y="566248"/>
                </a:cubicBezTo>
                <a:cubicBezTo>
                  <a:pt x="338582" y="485263"/>
                  <a:pt x="290995" y="345109"/>
                  <a:pt x="211845" y="278282"/>
                </a:cubicBezTo>
                <a:cubicBezTo>
                  <a:pt x="205828" y="273198"/>
                  <a:pt x="197012" y="265379"/>
                  <a:pt x="189290" y="263835"/>
                </a:cubicBezTo>
                <a:lnTo>
                  <a:pt x="189290" y="316924"/>
                </a:lnTo>
                <a:cubicBezTo>
                  <a:pt x="189290" y="342245"/>
                  <a:pt x="148138" y="386840"/>
                  <a:pt x="137231" y="412870"/>
                </a:cubicBezTo>
                <a:cubicBezTo>
                  <a:pt x="113421" y="469658"/>
                  <a:pt x="126967" y="523713"/>
                  <a:pt x="169985" y="566248"/>
                </a:cubicBezTo>
                <a:cubicBezTo>
                  <a:pt x="17701" y="532432"/>
                  <a:pt x="-44011" y="368790"/>
                  <a:pt x="33499" y="235135"/>
                </a:cubicBezTo>
                <a:cubicBezTo>
                  <a:pt x="57019" y="194562"/>
                  <a:pt x="134593" y="110360"/>
                  <a:pt x="134593" y="65959"/>
                </a:cubicBezTo>
                <a:lnTo>
                  <a:pt x="134593" y="0"/>
                </a:lnTo>
                <a:close/>
              </a:path>
            </a:pathLst>
          </a:custGeom>
          <a:solidFill>
            <a:srgbClr val="DDF365"/>
          </a:solidFill>
          <a:ln w="3175" cap="flat">
            <a:noFill/>
            <a:prstDash val="solid"/>
            <a:miter/>
          </a:ln>
        </p:spPr>
        <p:txBody>
          <a:bodyPr/>
          <a:lstStyle/>
          <a:p>
            <a:pPr defTabSz="609585"/>
            <a:endParaRPr lang="en-GB" sz="2400" kern="0">
              <a:solidFill>
                <a:prstClr val="black"/>
              </a:solidFill>
              <a:latin typeface="Calibri"/>
              <a:cs typeface="Arial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9FFC0C3-D272-22C0-A96F-EFADBB43438C}"/>
              </a:ext>
            </a:extLst>
          </p:cNvPr>
          <p:cNvSpPr/>
          <p:nvPr/>
        </p:nvSpPr>
        <p:spPr bwMode="auto">
          <a:xfrm>
            <a:off x="6794537" y="4895706"/>
            <a:ext cx="256540" cy="256540"/>
          </a:xfrm>
          <a:prstGeom prst="ellipse">
            <a:avLst/>
          </a:prstGeom>
          <a:solidFill>
            <a:srgbClr val="DDF365">
              <a:alpha val="2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defTabSz="609585">
              <a:buSzPct val="100000"/>
            </a:pPr>
            <a:endParaRPr lang="en-GB" sz="1867" kern="0" dirty="0">
              <a:solidFill>
                <a:srgbClr val="F8F8F8">
                  <a:lumMod val="25000"/>
                  <a:alpha val="50000"/>
                </a:srgbClr>
              </a:solidFill>
              <a:latin typeface="Yandex Sans Text Medium" pitchFamily="2" charset="-52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6C0AFD-EB7B-449D-9E7A-B8220FC135BF}"/>
              </a:ext>
            </a:extLst>
          </p:cNvPr>
          <p:cNvSpPr txBox="1"/>
          <p:nvPr/>
        </p:nvSpPr>
        <p:spPr>
          <a:xfrm>
            <a:off x="6626343" y="3072275"/>
            <a:ext cx="5038608" cy="1513637"/>
          </a:xfrm>
          <a:prstGeom prst="rect">
            <a:avLst/>
          </a:prstGeom>
          <a:solidFill>
            <a:srgbClr val="141414"/>
          </a:solidFill>
          <a:ln w="3175">
            <a:solidFill>
              <a:srgbClr val="DDF365"/>
            </a:solidFill>
          </a:ln>
        </p:spPr>
        <p:txBody>
          <a:bodyPr wrap="square" anchor="b">
            <a:noAutofit/>
          </a:bodyPr>
          <a:lstStyle/>
          <a:p>
            <a:pPr defTabSz="609585"/>
            <a:r>
              <a:rPr lang="ru-RU" sz="1400" kern="0" dirty="0">
                <a:solidFill>
                  <a:srgbClr val="DDF365"/>
                </a:solidFill>
                <a:latin typeface="Yandex Sans Text Medium" pitchFamily="2" charset="-52"/>
                <a:cs typeface="Arial"/>
              </a:rPr>
              <a:t>Что удивило</a:t>
            </a:r>
            <a:r>
              <a:rPr lang="en-GB" sz="1400" kern="0" dirty="0">
                <a:solidFill>
                  <a:srgbClr val="DDF365"/>
                </a:solidFill>
                <a:latin typeface="Yandex Sans Text Medium" pitchFamily="2" charset="-52"/>
                <a:cs typeface="Arial"/>
              </a:rPr>
              <a:t>?</a:t>
            </a:r>
            <a:endParaRPr lang="ru-RU" sz="1400" kern="0" dirty="0">
              <a:solidFill>
                <a:srgbClr val="DDF365"/>
              </a:solidFill>
              <a:latin typeface="Yandex Sans Text Medium" pitchFamily="2" charset="-52"/>
              <a:cs typeface="Arial"/>
            </a:endParaRPr>
          </a:p>
          <a:p>
            <a:pPr defTabSz="609585"/>
            <a:r>
              <a:rPr lang="ru-RU" sz="1067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Короткие видео получают больше просмотров на публикацию, чем карточки </a:t>
            </a:r>
            <a:r>
              <a:rPr lang="ru-RU" sz="1067" kern="0" dirty="0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- 1001 против 729, - но требуют примерно вдвое больше времени на подготовку  (8.0 против 4.0 часа). </a:t>
            </a:r>
            <a:r>
              <a:rPr lang="ru-RU" sz="1067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Поэтому максимум просмотров не означает максимум результата на час работы.</a:t>
            </a:r>
            <a:endParaRPr lang="en-GB" sz="1067" kern="0" dirty="0">
              <a:solidFill>
                <a:prstClr val="white"/>
              </a:solidFill>
              <a:latin typeface="Yandex Sans Text Medium" pitchFamily="2" charset="-52"/>
              <a:cs typeface="Arial"/>
            </a:endParaRP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B162B1C8-C515-3F9A-D2D6-2BB960A205BD}"/>
              </a:ext>
            </a:extLst>
          </p:cNvPr>
          <p:cNvSpPr/>
          <p:nvPr/>
        </p:nvSpPr>
        <p:spPr bwMode="auto">
          <a:xfrm rot="10139512">
            <a:off x="6753686" y="3265313"/>
            <a:ext cx="256540" cy="284300"/>
          </a:xfrm>
          <a:custGeom>
            <a:avLst/>
            <a:gdLst>
              <a:gd name="csX0" fmla="*/ 0 w 192405"/>
              <a:gd name="csY0" fmla="*/ 213225 h 213225"/>
              <a:gd name="csX1" fmla="*/ 68648 w 192405"/>
              <a:gd name="csY1" fmla="*/ 0 h 213225"/>
              <a:gd name="csX2" fmla="*/ 192405 w 192405"/>
              <a:gd name="csY2" fmla="*/ 213225 h 213225"/>
              <a:gd name="csX3" fmla="*/ 0 w 192405"/>
              <a:gd name="csY3" fmla="*/ 213225 h 2132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2405" h="213225">
                <a:moveTo>
                  <a:pt x="0" y="213225"/>
                </a:moveTo>
                <a:lnTo>
                  <a:pt x="68648" y="0"/>
                </a:lnTo>
                <a:lnTo>
                  <a:pt x="192405" y="213225"/>
                </a:lnTo>
                <a:lnTo>
                  <a:pt x="0" y="213225"/>
                </a:lnTo>
                <a:close/>
              </a:path>
            </a:pathLst>
          </a:custGeom>
          <a:solidFill>
            <a:srgbClr val="DDF365">
              <a:alpha val="2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defTabSz="609585">
              <a:buSzPct val="100000"/>
            </a:pPr>
            <a:endParaRPr lang="en-GB" sz="1867" kern="0" dirty="0">
              <a:solidFill>
                <a:srgbClr val="F8F8F8">
                  <a:lumMod val="25000"/>
                  <a:alpha val="50000"/>
                </a:srgbClr>
              </a:solidFill>
              <a:latin typeface="Yandex Sans Text Medium" pitchFamily="2" charset="-52"/>
              <a:cs typeface="Arial"/>
            </a:endParaRPr>
          </a:p>
        </p:txBody>
      </p:sp>
      <p:grpSp>
        <p:nvGrpSpPr>
          <p:cNvPr id="6" name="Graphic 5">
            <a:extLst>
              <a:ext uri="{FF2B5EF4-FFF2-40B4-BE49-F238E27FC236}">
                <a16:creationId xmlns:a16="http://schemas.microsoft.com/office/drawing/2014/main" id="{0FC29F9A-4201-A7C5-00BE-7AACC87AEBE8}"/>
              </a:ext>
            </a:extLst>
          </p:cNvPr>
          <p:cNvGrpSpPr>
            <a:grpSpLocks noChangeAspect="1"/>
          </p:cNvGrpSpPr>
          <p:nvPr/>
        </p:nvGrpSpPr>
        <p:grpSpPr>
          <a:xfrm>
            <a:off x="6866817" y="3264064"/>
            <a:ext cx="286815" cy="286801"/>
            <a:chOff x="5776030" y="3590452"/>
            <a:chExt cx="641182" cy="641150"/>
          </a:xfrm>
          <a:solidFill>
            <a:srgbClr val="DDF365"/>
          </a:solidFill>
        </p:grpSpPr>
        <p:sp>
          <p:nvSpPr>
            <p:cNvPr id="7" name="Free-form: Shape 65">
              <a:extLst>
                <a:ext uri="{FF2B5EF4-FFF2-40B4-BE49-F238E27FC236}">
                  <a16:creationId xmlns:a16="http://schemas.microsoft.com/office/drawing/2014/main" id="{28059B79-158A-EF0D-7DD6-5E6D989170D9}"/>
                </a:ext>
              </a:extLst>
            </p:cNvPr>
            <p:cNvSpPr/>
            <p:nvPr/>
          </p:nvSpPr>
          <p:spPr>
            <a:xfrm>
              <a:off x="5776030" y="3590452"/>
              <a:ext cx="641182" cy="641150"/>
            </a:xfrm>
            <a:custGeom>
              <a:avLst/>
              <a:gdLst>
                <a:gd name="connsiteX0" fmla="*/ 631882 w 641182"/>
                <a:gd name="connsiteY0" fmla="*/ 563840 h 641150"/>
                <a:gd name="connsiteX1" fmla="*/ 441477 w 641182"/>
                <a:gd name="connsiteY1" fmla="*/ 373435 h 641150"/>
                <a:gd name="connsiteX2" fmla="*/ 418090 w 641182"/>
                <a:gd name="connsiteY2" fmla="*/ 364071 h 641150"/>
                <a:gd name="connsiteX3" fmla="*/ 394928 w 641182"/>
                <a:gd name="connsiteY3" fmla="*/ 371355 h 641150"/>
                <a:gd name="connsiteX4" fmla="*/ 345212 w 641182"/>
                <a:gd name="connsiteY4" fmla="*/ 321638 h 641150"/>
                <a:gd name="connsiteX5" fmla="*/ 384478 w 641182"/>
                <a:gd name="connsiteY5" fmla="*/ 246182 h 641150"/>
                <a:gd name="connsiteX6" fmla="*/ 364936 w 641182"/>
                <a:gd name="connsiteY6" fmla="*/ 97803 h 641150"/>
                <a:gd name="connsiteX7" fmla="*/ 195431 w 641182"/>
                <a:gd name="connsiteY7" fmla="*/ 0 h 641150"/>
                <a:gd name="connsiteX8" fmla="*/ 97854 w 641182"/>
                <a:gd name="connsiteY8" fmla="*/ 26238 h 641150"/>
                <a:gd name="connsiteX9" fmla="*/ 6745 w 641182"/>
                <a:gd name="connsiteY9" fmla="*/ 144941 h 641150"/>
                <a:gd name="connsiteX10" fmla="*/ 26288 w 641182"/>
                <a:gd name="connsiteY10" fmla="*/ 293320 h 641150"/>
                <a:gd name="connsiteX11" fmla="*/ 195793 w 641182"/>
                <a:gd name="connsiteY11" fmla="*/ 391123 h 641150"/>
                <a:gd name="connsiteX12" fmla="*/ 293370 w 641182"/>
                <a:gd name="connsiteY12" fmla="*/ 364885 h 641150"/>
                <a:gd name="connsiteX13" fmla="*/ 322548 w 641182"/>
                <a:gd name="connsiteY13" fmla="*/ 344302 h 641150"/>
                <a:gd name="connsiteX14" fmla="*/ 372083 w 641182"/>
                <a:gd name="connsiteY14" fmla="*/ 393837 h 641150"/>
                <a:gd name="connsiteX15" fmla="*/ 373486 w 641182"/>
                <a:gd name="connsiteY15" fmla="*/ 441427 h 641150"/>
                <a:gd name="connsiteX16" fmla="*/ 563890 w 641182"/>
                <a:gd name="connsiteY16" fmla="*/ 631786 h 641150"/>
                <a:gd name="connsiteX17" fmla="*/ 587278 w 641182"/>
                <a:gd name="connsiteY17" fmla="*/ 641151 h 641150"/>
                <a:gd name="connsiteX18" fmla="*/ 617768 w 641182"/>
                <a:gd name="connsiteY18" fmla="*/ 627896 h 641150"/>
                <a:gd name="connsiteX19" fmla="*/ 627992 w 641182"/>
                <a:gd name="connsiteY19" fmla="*/ 617672 h 641150"/>
                <a:gd name="connsiteX20" fmla="*/ 631882 w 641182"/>
                <a:gd name="connsiteY20" fmla="*/ 563795 h 641150"/>
                <a:gd name="connsiteX21" fmla="*/ 277356 w 641182"/>
                <a:gd name="connsiteY21" fmla="*/ 337155 h 641150"/>
                <a:gd name="connsiteX22" fmla="*/ 195793 w 641182"/>
                <a:gd name="connsiteY22" fmla="*/ 359095 h 641150"/>
                <a:gd name="connsiteX23" fmla="*/ 54064 w 641182"/>
                <a:gd name="connsiteY23" fmla="*/ 277351 h 641150"/>
                <a:gd name="connsiteX24" fmla="*/ 37733 w 641182"/>
                <a:gd name="connsiteY24" fmla="*/ 153310 h 641150"/>
                <a:gd name="connsiteX25" fmla="*/ 113913 w 641182"/>
                <a:gd name="connsiteY25" fmla="*/ 54059 h 641150"/>
                <a:gd name="connsiteX26" fmla="*/ 195476 w 641182"/>
                <a:gd name="connsiteY26" fmla="*/ 32118 h 641150"/>
                <a:gd name="connsiteX27" fmla="*/ 337205 w 641182"/>
                <a:gd name="connsiteY27" fmla="*/ 113863 h 641150"/>
                <a:gd name="connsiteX28" fmla="*/ 353536 w 641182"/>
                <a:gd name="connsiteY28" fmla="*/ 237904 h 641150"/>
                <a:gd name="connsiteX29" fmla="*/ 277356 w 641182"/>
                <a:gd name="connsiteY29" fmla="*/ 337155 h 641150"/>
                <a:gd name="connsiteX30" fmla="*/ 605328 w 641182"/>
                <a:gd name="connsiteY30" fmla="*/ 595054 h 641150"/>
                <a:gd name="connsiteX31" fmla="*/ 595104 w 641182"/>
                <a:gd name="connsiteY31" fmla="*/ 605277 h 641150"/>
                <a:gd name="connsiteX32" fmla="*/ 587278 w 641182"/>
                <a:gd name="connsiteY32" fmla="*/ 609123 h 641150"/>
                <a:gd name="connsiteX33" fmla="*/ 586554 w 641182"/>
                <a:gd name="connsiteY33" fmla="*/ 609123 h 641150"/>
                <a:gd name="connsiteX34" fmla="*/ 396331 w 641182"/>
                <a:gd name="connsiteY34" fmla="*/ 418944 h 641150"/>
                <a:gd name="connsiteX35" fmla="*/ 400085 w 641182"/>
                <a:gd name="connsiteY35" fmla="*/ 410213 h 641150"/>
                <a:gd name="connsiteX36" fmla="*/ 410309 w 641182"/>
                <a:gd name="connsiteY36" fmla="*/ 399990 h 641150"/>
                <a:gd name="connsiteX37" fmla="*/ 418135 w 641182"/>
                <a:gd name="connsiteY37" fmla="*/ 396145 h 641150"/>
                <a:gd name="connsiteX38" fmla="*/ 418859 w 641182"/>
                <a:gd name="connsiteY38" fmla="*/ 396145 h 641150"/>
                <a:gd name="connsiteX39" fmla="*/ 609082 w 641182"/>
                <a:gd name="connsiteY39" fmla="*/ 586323 h 641150"/>
                <a:gd name="connsiteX40" fmla="*/ 605328 w 641182"/>
                <a:gd name="connsiteY40" fmla="*/ 595054 h 641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41182" h="641150">
                  <a:moveTo>
                    <a:pt x="631882" y="563840"/>
                  </a:moveTo>
                  <a:lnTo>
                    <a:pt x="441477" y="373435"/>
                  </a:lnTo>
                  <a:cubicBezTo>
                    <a:pt x="435461" y="367419"/>
                    <a:pt x="427137" y="364071"/>
                    <a:pt x="418090" y="364071"/>
                  </a:cubicBezTo>
                  <a:cubicBezTo>
                    <a:pt x="410083" y="364071"/>
                    <a:pt x="401985" y="366695"/>
                    <a:pt x="394928" y="371355"/>
                  </a:cubicBezTo>
                  <a:lnTo>
                    <a:pt x="345212" y="321638"/>
                  </a:lnTo>
                  <a:cubicBezTo>
                    <a:pt x="363488" y="299970"/>
                    <a:pt x="376924" y="274365"/>
                    <a:pt x="384478" y="246182"/>
                  </a:cubicBezTo>
                  <a:cubicBezTo>
                    <a:pt x="398004" y="195743"/>
                    <a:pt x="391038" y="143041"/>
                    <a:pt x="364936" y="97803"/>
                  </a:cubicBezTo>
                  <a:cubicBezTo>
                    <a:pt x="330103" y="37502"/>
                    <a:pt x="265142" y="0"/>
                    <a:pt x="195431" y="0"/>
                  </a:cubicBezTo>
                  <a:cubicBezTo>
                    <a:pt x="161322" y="0"/>
                    <a:pt x="127529" y="9047"/>
                    <a:pt x="97854" y="26238"/>
                  </a:cubicBezTo>
                  <a:cubicBezTo>
                    <a:pt x="52616" y="52340"/>
                    <a:pt x="20271" y="94501"/>
                    <a:pt x="6745" y="144941"/>
                  </a:cubicBezTo>
                  <a:cubicBezTo>
                    <a:pt x="-6781" y="195381"/>
                    <a:pt x="186" y="248082"/>
                    <a:pt x="26288" y="293320"/>
                  </a:cubicBezTo>
                  <a:cubicBezTo>
                    <a:pt x="61121" y="353621"/>
                    <a:pt x="126082" y="391123"/>
                    <a:pt x="195793" y="391123"/>
                  </a:cubicBezTo>
                  <a:cubicBezTo>
                    <a:pt x="229902" y="391123"/>
                    <a:pt x="263694" y="382076"/>
                    <a:pt x="293370" y="364885"/>
                  </a:cubicBezTo>
                  <a:cubicBezTo>
                    <a:pt x="303820" y="358869"/>
                    <a:pt x="313546" y="351947"/>
                    <a:pt x="322548" y="344302"/>
                  </a:cubicBezTo>
                  <a:lnTo>
                    <a:pt x="372083" y="393837"/>
                  </a:lnTo>
                  <a:cubicBezTo>
                    <a:pt x="361226" y="409309"/>
                    <a:pt x="361407" y="429349"/>
                    <a:pt x="373486" y="441427"/>
                  </a:cubicBezTo>
                  <a:lnTo>
                    <a:pt x="563890" y="631786"/>
                  </a:lnTo>
                  <a:cubicBezTo>
                    <a:pt x="569907" y="637803"/>
                    <a:pt x="578230" y="641151"/>
                    <a:pt x="587278" y="641151"/>
                  </a:cubicBezTo>
                  <a:cubicBezTo>
                    <a:pt x="598225" y="641151"/>
                    <a:pt x="609354" y="636310"/>
                    <a:pt x="617768" y="627896"/>
                  </a:cubicBezTo>
                  <a:lnTo>
                    <a:pt x="627992" y="617672"/>
                  </a:lnTo>
                  <a:cubicBezTo>
                    <a:pt x="643915" y="601749"/>
                    <a:pt x="645679" y="577592"/>
                    <a:pt x="631882" y="563795"/>
                  </a:cubicBezTo>
                  <a:close/>
                  <a:moveTo>
                    <a:pt x="277356" y="337155"/>
                  </a:moveTo>
                  <a:cubicBezTo>
                    <a:pt x="252521" y="351495"/>
                    <a:pt x="224292" y="359095"/>
                    <a:pt x="195793" y="359095"/>
                  </a:cubicBezTo>
                  <a:cubicBezTo>
                    <a:pt x="137482" y="359095"/>
                    <a:pt x="83197" y="327746"/>
                    <a:pt x="54064" y="277351"/>
                  </a:cubicBezTo>
                  <a:cubicBezTo>
                    <a:pt x="32214" y="239532"/>
                    <a:pt x="26424" y="195471"/>
                    <a:pt x="37733" y="153310"/>
                  </a:cubicBezTo>
                  <a:cubicBezTo>
                    <a:pt x="49042" y="111148"/>
                    <a:pt x="76094" y="75863"/>
                    <a:pt x="113913" y="54059"/>
                  </a:cubicBezTo>
                  <a:cubicBezTo>
                    <a:pt x="138748" y="39718"/>
                    <a:pt x="166977" y="32118"/>
                    <a:pt x="195476" y="32118"/>
                  </a:cubicBezTo>
                  <a:cubicBezTo>
                    <a:pt x="253787" y="32118"/>
                    <a:pt x="308072" y="63468"/>
                    <a:pt x="337205" y="113863"/>
                  </a:cubicBezTo>
                  <a:cubicBezTo>
                    <a:pt x="359055" y="151681"/>
                    <a:pt x="364845" y="195743"/>
                    <a:pt x="353536" y="237904"/>
                  </a:cubicBezTo>
                  <a:cubicBezTo>
                    <a:pt x="342227" y="280065"/>
                    <a:pt x="315175" y="315350"/>
                    <a:pt x="277356" y="337155"/>
                  </a:cubicBezTo>
                  <a:close/>
                  <a:moveTo>
                    <a:pt x="605328" y="595054"/>
                  </a:moveTo>
                  <a:lnTo>
                    <a:pt x="595104" y="605277"/>
                  </a:lnTo>
                  <a:cubicBezTo>
                    <a:pt x="592254" y="608127"/>
                    <a:pt x="589133" y="609123"/>
                    <a:pt x="587278" y="609123"/>
                  </a:cubicBezTo>
                  <a:cubicBezTo>
                    <a:pt x="586780" y="609123"/>
                    <a:pt x="586464" y="609032"/>
                    <a:pt x="586554" y="609123"/>
                  </a:cubicBezTo>
                  <a:lnTo>
                    <a:pt x="396331" y="418944"/>
                  </a:lnTo>
                  <a:cubicBezTo>
                    <a:pt x="395878" y="417949"/>
                    <a:pt x="396331" y="413923"/>
                    <a:pt x="400085" y="410213"/>
                  </a:cubicBezTo>
                  <a:lnTo>
                    <a:pt x="410309" y="399990"/>
                  </a:lnTo>
                  <a:cubicBezTo>
                    <a:pt x="413159" y="397140"/>
                    <a:pt x="416280" y="396145"/>
                    <a:pt x="418135" y="396145"/>
                  </a:cubicBezTo>
                  <a:cubicBezTo>
                    <a:pt x="418633" y="396145"/>
                    <a:pt x="418949" y="396235"/>
                    <a:pt x="418859" y="396145"/>
                  </a:cubicBezTo>
                  <a:lnTo>
                    <a:pt x="609082" y="586323"/>
                  </a:lnTo>
                  <a:cubicBezTo>
                    <a:pt x="609535" y="587318"/>
                    <a:pt x="609082" y="591344"/>
                    <a:pt x="605328" y="595054"/>
                  </a:cubicBezTo>
                  <a:close/>
                </a:path>
              </a:pathLst>
            </a:custGeom>
            <a:grpFill/>
            <a:ln w="451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609585"/>
              <a:endParaRPr lang="en-GB" sz="2400" kern="0">
                <a:solidFill>
                  <a:prstClr val="black"/>
                </a:solidFill>
                <a:latin typeface="Calibri"/>
                <a:cs typeface="Arial"/>
              </a:endParaRPr>
            </a:p>
          </p:txBody>
        </p:sp>
        <p:sp>
          <p:nvSpPr>
            <p:cNvPr id="12" name="Free-form: Shape 66">
              <a:extLst>
                <a:ext uri="{FF2B5EF4-FFF2-40B4-BE49-F238E27FC236}">
                  <a16:creationId xmlns:a16="http://schemas.microsoft.com/office/drawing/2014/main" id="{649032D1-1BF8-F017-5B24-8C62BF9E4599}"/>
                </a:ext>
              </a:extLst>
            </p:cNvPr>
            <p:cNvSpPr/>
            <p:nvPr/>
          </p:nvSpPr>
          <p:spPr>
            <a:xfrm>
              <a:off x="5840272" y="3692800"/>
              <a:ext cx="256496" cy="186538"/>
            </a:xfrm>
            <a:custGeom>
              <a:avLst/>
              <a:gdLst>
                <a:gd name="connsiteX0" fmla="*/ 207595 w 256496"/>
                <a:gd name="connsiteY0" fmla="*/ 82040 h 186538"/>
                <a:gd name="connsiteX1" fmla="*/ 198819 w 256496"/>
                <a:gd name="connsiteY1" fmla="*/ 93530 h 186538"/>
                <a:gd name="connsiteX2" fmla="*/ 185248 w 256496"/>
                <a:gd name="connsiteY2" fmla="*/ 49785 h 186538"/>
                <a:gd name="connsiteX3" fmla="*/ 166972 w 256496"/>
                <a:gd name="connsiteY3" fmla="*/ 35671 h 186538"/>
                <a:gd name="connsiteX4" fmla="*/ 166519 w 256496"/>
                <a:gd name="connsiteY4" fmla="*/ 35671 h 186538"/>
                <a:gd name="connsiteX5" fmla="*/ 147565 w 256496"/>
                <a:gd name="connsiteY5" fmla="*/ 48157 h 186538"/>
                <a:gd name="connsiteX6" fmla="*/ 120603 w 256496"/>
                <a:gd name="connsiteY6" fmla="*/ 114430 h 186538"/>
                <a:gd name="connsiteX7" fmla="*/ 101649 w 256496"/>
                <a:gd name="connsiteY7" fmla="*/ 16264 h 186538"/>
                <a:gd name="connsiteX8" fmla="*/ 84549 w 256496"/>
                <a:gd name="connsiteY8" fmla="*/ 160 h 186538"/>
                <a:gd name="connsiteX9" fmla="*/ 84096 w 256496"/>
                <a:gd name="connsiteY9" fmla="*/ 115 h 186538"/>
                <a:gd name="connsiteX10" fmla="*/ 64147 w 256496"/>
                <a:gd name="connsiteY10" fmla="*/ 10881 h 186538"/>
                <a:gd name="connsiteX11" fmla="*/ 31259 w 256496"/>
                <a:gd name="connsiteY11" fmla="*/ 74033 h 186538"/>
                <a:gd name="connsiteX12" fmla="*/ 0 w 256496"/>
                <a:gd name="connsiteY12" fmla="*/ 74033 h 186538"/>
                <a:gd name="connsiteX13" fmla="*/ 0 w 256496"/>
                <a:gd name="connsiteY13" fmla="*/ 106106 h 186538"/>
                <a:gd name="connsiteX14" fmla="*/ 40985 w 256496"/>
                <a:gd name="connsiteY14" fmla="*/ 106106 h 186538"/>
                <a:gd name="connsiteX15" fmla="*/ 55190 w 256496"/>
                <a:gd name="connsiteY15" fmla="*/ 97466 h 186538"/>
                <a:gd name="connsiteX16" fmla="*/ 76678 w 256496"/>
                <a:gd name="connsiteY16" fmla="*/ 56164 h 186538"/>
                <a:gd name="connsiteX17" fmla="*/ 99341 w 256496"/>
                <a:gd name="connsiteY17" fmla="*/ 173555 h 186538"/>
                <a:gd name="connsiteX18" fmla="*/ 113501 w 256496"/>
                <a:gd name="connsiteY18" fmla="*/ 186448 h 186538"/>
                <a:gd name="connsiteX19" fmla="*/ 115084 w 256496"/>
                <a:gd name="connsiteY19" fmla="*/ 186538 h 186538"/>
                <a:gd name="connsiteX20" fmla="*/ 129922 w 256496"/>
                <a:gd name="connsiteY20" fmla="*/ 176541 h 186538"/>
                <a:gd name="connsiteX21" fmla="*/ 164574 w 256496"/>
                <a:gd name="connsiteY21" fmla="*/ 91359 h 186538"/>
                <a:gd name="connsiteX22" fmla="*/ 177421 w 256496"/>
                <a:gd name="connsiteY22" fmla="*/ 132706 h 186538"/>
                <a:gd name="connsiteX23" fmla="*/ 189952 w 256496"/>
                <a:gd name="connsiteY23" fmla="*/ 143744 h 186538"/>
                <a:gd name="connsiteX24" fmla="*/ 205514 w 256496"/>
                <a:gd name="connsiteY24" fmla="*/ 137682 h 186538"/>
                <a:gd name="connsiteX25" fmla="*/ 229535 w 256496"/>
                <a:gd name="connsiteY25" fmla="*/ 106196 h 186538"/>
                <a:gd name="connsiteX26" fmla="*/ 256497 w 256496"/>
                <a:gd name="connsiteY26" fmla="*/ 106196 h 186538"/>
                <a:gd name="connsiteX27" fmla="*/ 256497 w 256496"/>
                <a:gd name="connsiteY27" fmla="*/ 74123 h 186538"/>
                <a:gd name="connsiteX28" fmla="*/ 223609 w 256496"/>
                <a:gd name="connsiteY28" fmla="*/ 74123 h 186538"/>
                <a:gd name="connsiteX29" fmla="*/ 207685 w 256496"/>
                <a:gd name="connsiteY29" fmla="*/ 81994 h 186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56496" h="186538">
                  <a:moveTo>
                    <a:pt x="207595" y="82040"/>
                  </a:moveTo>
                  <a:lnTo>
                    <a:pt x="198819" y="93530"/>
                  </a:lnTo>
                  <a:lnTo>
                    <a:pt x="185248" y="49785"/>
                  </a:lnTo>
                  <a:cubicBezTo>
                    <a:pt x="182759" y="41733"/>
                    <a:pt x="175431" y="36078"/>
                    <a:pt x="166972" y="35671"/>
                  </a:cubicBezTo>
                  <a:cubicBezTo>
                    <a:pt x="166836" y="35671"/>
                    <a:pt x="166655" y="35671"/>
                    <a:pt x="166519" y="35671"/>
                  </a:cubicBezTo>
                  <a:cubicBezTo>
                    <a:pt x="158376" y="35671"/>
                    <a:pt x="150641" y="40557"/>
                    <a:pt x="147565" y="48157"/>
                  </a:cubicBezTo>
                  <a:lnTo>
                    <a:pt x="120603" y="114430"/>
                  </a:lnTo>
                  <a:lnTo>
                    <a:pt x="101649" y="16264"/>
                  </a:lnTo>
                  <a:cubicBezTo>
                    <a:pt x="100020" y="7760"/>
                    <a:pt x="93144" y="1246"/>
                    <a:pt x="84549" y="160"/>
                  </a:cubicBezTo>
                  <a:cubicBezTo>
                    <a:pt x="84413" y="160"/>
                    <a:pt x="84232" y="160"/>
                    <a:pt x="84096" y="115"/>
                  </a:cubicBezTo>
                  <a:cubicBezTo>
                    <a:pt x="75682" y="-790"/>
                    <a:pt x="67585" y="3734"/>
                    <a:pt x="64147" y="10881"/>
                  </a:cubicBezTo>
                  <a:lnTo>
                    <a:pt x="31259" y="74033"/>
                  </a:lnTo>
                  <a:lnTo>
                    <a:pt x="0" y="74033"/>
                  </a:lnTo>
                  <a:lnTo>
                    <a:pt x="0" y="106106"/>
                  </a:lnTo>
                  <a:lnTo>
                    <a:pt x="40985" y="106106"/>
                  </a:lnTo>
                  <a:cubicBezTo>
                    <a:pt x="46957" y="106106"/>
                    <a:pt x="52430" y="102804"/>
                    <a:pt x="55190" y="97466"/>
                  </a:cubicBezTo>
                  <a:lnTo>
                    <a:pt x="76678" y="56164"/>
                  </a:lnTo>
                  <a:lnTo>
                    <a:pt x="99341" y="173555"/>
                  </a:lnTo>
                  <a:cubicBezTo>
                    <a:pt x="100699" y="180522"/>
                    <a:pt x="106444" y="185769"/>
                    <a:pt x="113501" y="186448"/>
                  </a:cubicBezTo>
                  <a:cubicBezTo>
                    <a:pt x="114044" y="186493"/>
                    <a:pt x="114541" y="186538"/>
                    <a:pt x="115084" y="186538"/>
                  </a:cubicBezTo>
                  <a:cubicBezTo>
                    <a:pt x="121553" y="186538"/>
                    <a:pt x="127434" y="182648"/>
                    <a:pt x="129922" y="176541"/>
                  </a:cubicBezTo>
                  <a:lnTo>
                    <a:pt x="164574" y="91359"/>
                  </a:lnTo>
                  <a:lnTo>
                    <a:pt x="177421" y="132706"/>
                  </a:lnTo>
                  <a:cubicBezTo>
                    <a:pt x="179186" y="138451"/>
                    <a:pt x="184026" y="142703"/>
                    <a:pt x="189952" y="143744"/>
                  </a:cubicBezTo>
                  <a:cubicBezTo>
                    <a:pt x="195878" y="144784"/>
                    <a:pt x="201850" y="142432"/>
                    <a:pt x="205514" y="137682"/>
                  </a:cubicBezTo>
                  <a:lnTo>
                    <a:pt x="229535" y="106196"/>
                  </a:lnTo>
                  <a:lnTo>
                    <a:pt x="256497" y="106196"/>
                  </a:lnTo>
                  <a:lnTo>
                    <a:pt x="256497" y="74123"/>
                  </a:lnTo>
                  <a:lnTo>
                    <a:pt x="223609" y="74123"/>
                  </a:lnTo>
                  <a:cubicBezTo>
                    <a:pt x="217321" y="74123"/>
                    <a:pt x="211349" y="77109"/>
                    <a:pt x="207685" y="81994"/>
                  </a:cubicBezTo>
                  <a:close/>
                </a:path>
              </a:pathLst>
            </a:custGeom>
            <a:grpFill/>
            <a:ln w="451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609585"/>
              <a:endParaRPr lang="en-GB" sz="2400" kern="0">
                <a:solidFill>
                  <a:prstClr val="black"/>
                </a:solidFill>
                <a:latin typeface="Calibri"/>
                <a:cs typeface="Arial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2C2CB64-8AB6-3BC1-BBA7-BE5C90B1A52F}"/>
              </a:ext>
            </a:extLst>
          </p:cNvPr>
          <p:cNvSpPr txBox="1"/>
          <p:nvPr/>
        </p:nvSpPr>
        <p:spPr>
          <a:xfrm>
            <a:off x="6349999" y="1705755"/>
            <a:ext cx="5314952" cy="1151109"/>
          </a:xfrm>
          <a:prstGeom prst="rect">
            <a:avLst/>
          </a:prstGeom>
          <a:solidFill>
            <a:srgbClr val="DDF365"/>
          </a:solidFill>
          <a:ln w="3175">
            <a:solidFill>
              <a:srgbClr val="DDF365"/>
            </a:solidFill>
          </a:ln>
        </p:spPr>
        <p:txBody>
          <a:bodyPr wrap="square" anchor="b">
            <a:noAutofit/>
          </a:bodyPr>
          <a:lstStyle/>
          <a:p>
            <a:pPr defTabSz="609585">
              <a:spcAft>
                <a:spcPts val="800"/>
              </a:spcAft>
            </a:pPr>
            <a:r>
              <a:rPr lang="ru-RU" sz="1400" kern="0" dirty="0">
                <a:solidFill>
                  <a:srgbClr val="F8F8F8">
                    <a:lumMod val="25000"/>
                  </a:srgbClr>
                </a:solidFill>
                <a:latin typeface="Yandex Sans Text Medium" pitchFamily="2" charset="-52"/>
                <a:cs typeface="Arial"/>
              </a:rPr>
              <a:t>Приоритет - эффективность</a:t>
            </a:r>
          </a:p>
          <a:p>
            <a:pPr defTabSz="609585"/>
            <a:r>
              <a:rPr lang="ru-RU" sz="1067" kern="0" dirty="0">
                <a:solidFill>
                  <a:srgbClr val="F8F8F8">
                    <a:lumMod val="25000"/>
                  </a:srgbClr>
                </a:solidFill>
                <a:latin typeface="Yandex Sans Text Medium" pitchFamily="2" charset="-52"/>
                <a:cs typeface="Arial"/>
              </a:rPr>
              <a:t>У команды мало времени, поэтому выбираем тему и формат, которые дают больше завершённых просмотров на час подготовки. </a:t>
            </a:r>
          </a:p>
          <a:p>
            <a:pPr defTabSz="609585"/>
            <a:r>
              <a:rPr lang="ru-RU" sz="1067" kern="0" dirty="0">
                <a:solidFill>
                  <a:srgbClr val="F8F8F8">
                    <a:lumMod val="25000"/>
                  </a:srgbClr>
                </a:solidFill>
                <a:latin typeface="Yandex Sans Text Regular" pitchFamily="2" charset="-52"/>
                <a:cs typeface="Arial"/>
              </a:rPr>
              <a:t>Долю сохранений используем как дополнительный показатель долгосрочной ценности материала для аудитории.</a:t>
            </a:r>
            <a:endParaRPr lang="en-GB" sz="1067" kern="0" dirty="0">
              <a:solidFill>
                <a:srgbClr val="F8F8F8">
                  <a:lumMod val="25000"/>
                </a:srgbClr>
              </a:solidFill>
              <a:latin typeface="Yandex Sans Text Regular" pitchFamily="2" charset="-52"/>
              <a:cs typeface="Arial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91BAB5D-ECF8-1A86-09A5-C8C1E1DEC64E}"/>
              </a:ext>
            </a:extLst>
          </p:cNvPr>
          <p:cNvCxnSpPr>
            <a:cxnSpLocks/>
          </p:cNvCxnSpPr>
          <p:nvPr/>
        </p:nvCxnSpPr>
        <p:spPr bwMode="auto">
          <a:xfrm>
            <a:off x="6488429" y="2077720"/>
            <a:ext cx="3778252" cy="0"/>
          </a:xfrm>
          <a:prstGeom prst="line">
            <a:avLst/>
          </a:prstGeom>
          <a:ln w="3175">
            <a:solidFill>
              <a:schemeClr val="bg2">
                <a:lumMod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DDF77D1-0F0E-F436-9418-A1974E45C870}"/>
              </a:ext>
            </a:extLst>
          </p:cNvPr>
          <p:cNvSpPr txBox="1"/>
          <p:nvPr/>
        </p:nvSpPr>
        <p:spPr>
          <a:xfrm>
            <a:off x="6350000" y="1274759"/>
            <a:ext cx="2819489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585"/>
            <a:r>
              <a:rPr lang="ru-RU" sz="1867" kern="0" dirty="0">
                <a:solidFill>
                  <a:srgbClr val="DDF365"/>
                </a:solidFill>
                <a:latin typeface="Yandex Sans Text Medium" pitchFamily="2" charset="-52"/>
                <a:cs typeface="Arial"/>
              </a:rPr>
              <a:t>Журнал решения</a:t>
            </a:r>
            <a:endParaRPr lang="en-GB" sz="1867" kern="0" dirty="0">
              <a:solidFill>
                <a:srgbClr val="DDF365"/>
              </a:solidFill>
              <a:latin typeface="Yandex Sans Text Medium" pitchFamily="2" charset="-52"/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270B8D-5C6A-DD89-30C8-D0E58CF53BAB}"/>
              </a:ext>
            </a:extLst>
          </p:cNvPr>
          <p:cNvSpPr txBox="1"/>
          <p:nvPr/>
        </p:nvSpPr>
        <p:spPr>
          <a:xfrm>
            <a:off x="527048" y="933451"/>
            <a:ext cx="5625848" cy="1436162"/>
          </a:xfrm>
          <a:prstGeom prst="rect">
            <a:avLst/>
          </a:prstGeom>
          <a:solidFill>
            <a:srgbClr val="7451F4"/>
          </a:solidFill>
          <a:ln w="3175">
            <a:noFill/>
          </a:ln>
        </p:spPr>
        <p:txBody>
          <a:bodyPr wrap="square" anchor="t">
            <a:spAutoFit/>
          </a:bodyPr>
          <a:lstStyle/>
          <a:p>
            <a:pPr algn="r" defTabSz="609585">
              <a:spcAft>
                <a:spcPts val="800"/>
              </a:spcAft>
            </a:pPr>
            <a:r>
              <a:rPr lang="ru-RU" sz="1400" kern="0" dirty="0">
                <a:solidFill>
                  <a:prstClr val="white">
                    <a:alpha val="50000"/>
                  </a:prstClr>
                </a:solidFill>
                <a:latin typeface="Yandex Sans Text Medium" pitchFamily="2" charset="-52"/>
                <a:cs typeface="Arial"/>
              </a:rPr>
              <a:t>ИДЕЯ ПУБЛИКАЦИИ</a:t>
            </a:r>
          </a:p>
          <a:p>
            <a:pPr defTabSz="609585">
              <a:spcAft>
                <a:spcPts val="800"/>
              </a:spcAft>
            </a:pPr>
            <a:r>
              <a:rPr lang="ru-RU" sz="2400" kern="0" dirty="0">
                <a:solidFill>
                  <a:prstClr val="white"/>
                </a:solidFill>
                <a:latin typeface="Yandex Sans Text Bold" pitchFamily="2" charset="-52"/>
                <a:cs typeface="Arial"/>
              </a:rPr>
              <a:t>Нет опыта? </a:t>
            </a:r>
            <a:br>
              <a:rPr lang="ru-RU" sz="2400" kern="0" dirty="0">
                <a:solidFill>
                  <a:prstClr val="white"/>
                </a:solidFill>
                <a:latin typeface="Yandex Sans Text Bold" pitchFamily="2" charset="-52"/>
                <a:cs typeface="Arial"/>
              </a:rPr>
            </a:br>
            <a:r>
              <a:rPr lang="ru-RU" sz="2133" kern="0" dirty="0">
                <a:solidFill>
                  <a:prstClr val="white"/>
                </a:solidFill>
                <a:latin typeface="Yandex Sans Text Bold" pitchFamily="2" charset="-52"/>
                <a:cs typeface="Arial"/>
              </a:rPr>
              <a:t>3 идеи аналитических пет-проектов </a:t>
            </a:r>
            <a:br>
              <a:rPr lang="ru-RU" sz="2133" kern="0" dirty="0">
                <a:solidFill>
                  <a:prstClr val="white"/>
                </a:solidFill>
                <a:latin typeface="Yandex Sans Text Bold" pitchFamily="2" charset="-52"/>
                <a:cs typeface="Arial"/>
              </a:rPr>
            </a:br>
            <a:r>
              <a:rPr lang="ru-RU" sz="2133" kern="0" dirty="0">
                <a:solidFill>
                  <a:prstClr val="white"/>
                </a:solidFill>
                <a:latin typeface="Yandex Sans Text Bold" pitchFamily="2" charset="-52"/>
                <a:cs typeface="Arial"/>
              </a:rPr>
              <a:t>с готовыми датасетами</a:t>
            </a:r>
            <a:endParaRPr lang="ru-RU" sz="2400" kern="0" dirty="0">
              <a:solidFill>
                <a:prstClr val="white"/>
              </a:solidFill>
              <a:latin typeface="Yandex Sans Text Bold" pitchFamily="2" charset="-52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151ADB-4638-06C3-AA66-BBDB4FABEFAC}"/>
              </a:ext>
            </a:extLst>
          </p:cNvPr>
          <p:cNvSpPr txBox="1"/>
          <p:nvPr/>
        </p:nvSpPr>
        <p:spPr>
          <a:xfrm>
            <a:off x="527048" y="2400519"/>
            <a:ext cx="5625848" cy="1955295"/>
          </a:xfrm>
          <a:prstGeom prst="rect">
            <a:avLst/>
          </a:prstGeom>
          <a:solidFill>
            <a:srgbClr val="3B2D6F"/>
          </a:solidFill>
          <a:ln w="3175">
            <a:noFill/>
          </a:ln>
        </p:spPr>
        <p:txBody>
          <a:bodyPr wrap="square" anchor="ctr">
            <a:noAutofit/>
          </a:bodyPr>
          <a:lstStyle/>
          <a:p>
            <a:pPr defTabSz="609585">
              <a:spcAft>
                <a:spcPts val="800"/>
              </a:spcAft>
            </a:pPr>
            <a:r>
              <a:rPr lang="en-GB" sz="1200" kern="0" dirty="0" err="1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Аудитория</a:t>
            </a:r>
            <a:r>
              <a:rPr lang="en-GB" sz="1200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: </a:t>
            </a:r>
            <a:r>
              <a:rPr lang="en-GB" sz="1200" kern="0" dirty="0" err="1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студенты</a:t>
            </a:r>
            <a:r>
              <a:rPr lang="en-GB" sz="1200" kern="0" dirty="0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 2-4 </a:t>
            </a:r>
            <a:r>
              <a:rPr lang="en-GB" sz="1200" kern="0" dirty="0" err="1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курса</a:t>
            </a:r>
            <a:r>
              <a:rPr lang="en-GB" sz="1200" kern="0" dirty="0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, </a:t>
            </a:r>
            <a:r>
              <a:rPr lang="en-GB" sz="1200" kern="0" dirty="0" err="1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которые</a:t>
            </a:r>
            <a:r>
              <a:rPr lang="en-GB" sz="1200" kern="0" dirty="0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200" kern="0" dirty="0" err="1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ищут</a:t>
            </a:r>
            <a:r>
              <a:rPr lang="en-GB" sz="1200" kern="0" dirty="0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200" kern="0" dirty="0" err="1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первую</a:t>
            </a:r>
            <a:r>
              <a:rPr lang="en-GB" sz="1200" kern="0" dirty="0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200" kern="0" dirty="0" err="1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стажировку</a:t>
            </a:r>
            <a:endParaRPr lang="ru-RU" sz="1200" kern="0" dirty="0">
              <a:solidFill>
                <a:prstClr val="white">
                  <a:alpha val="70000"/>
                </a:prstClr>
              </a:solidFill>
              <a:latin typeface="Yandex Sans Text Regular" pitchFamily="2" charset="-52"/>
              <a:cs typeface="Arial"/>
            </a:endParaRPr>
          </a:p>
          <a:p>
            <a:pPr defTabSz="609585">
              <a:spcAft>
                <a:spcPts val="800"/>
              </a:spcAft>
            </a:pPr>
            <a:r>
              <a:rPr lang="ru-RU" sz="1200" kern="0" dirty="0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В каждой карточке предлагаем продуктовый вопрос, ссылку на открытый датасет и формат результата, к которому стоит прийти: вывод и рекомендацию для продукта. </a:t>
            </a:r>
            <a:r>
              <a:rPr lang="ru-RU" sz="1200" kern="0" dirty="0">
                <a:solidFill>
                  <a:prstClr val="white"/>
                </a:solidFill>
                <a:highlight>
                  <a:srgbClr val="7451F4"/>
                </a:highlight>
                <a:latin typeface="Yandex Sans Text Regular" pitchFamily="2" charset="-52"/>
                <a:cs typeface="Arial"/>
              </a:rPr>
              <a:t> </a:t>
            </a:r>
            <a:r>
              <a:rPr lang="ru-RU" sz="1200" kern="0" dirty="0">
                <a:solidFill>
                  <a:prstClr val="white"/>
                </a:solidFill>
                <a:highlight>
                  <a:srgbClr val="7451F4"/>
                </a:highlight>
                <a:latin typeface="Yandex Sans Text Medium" pitchFamily="2" charset="-52"/>
                <a:cs typeface="Arial"/>
              </a:rPr>
              <a:t>Готовые данные снимают барьер старта </a:t>
            </a:r>
            <a:r>
              <a:rPr lang="ru-RU" sz="1200" kern="0" dirty="0">
                <a:solidFill>
                  <a:prstClr val="white"/>
                </a:solidFill>
                <a:latin typeface="Yandex Sans Display Regular" pitchFamily="2" charset="-52"/>
                <a:cs typeface="Arial"/>
              </a:rPr>
              <a:t>,</a:t>
            </a:r>
            <a:br>
              <a:rPr lang="ru-RU" sz="1200" kern="0" dirty="0">
                <a:solidFill>
                  <a:prstClr val="white"/>
                </a:solidFill>
                <a:latin typeface="Yandex Sans Display Regular" pitchFamily="2" charset="-52"/>
                <a:cs typeface="Arial"/>
              </a:rPr>
            </a:br>
            <a:r>
              <a:rPr lang="ru-RU" sz="1200" kern="0" dirty="0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а выполненный проект позволяет показать в портфолио, как кандидат превращает анализ в решение.</a:t>
            </a:r>
          </a:p>
          <a:p>
            <a:pPr defTabSz="609585"/>
            <a:r>
              <a:rPr lang="en-GB" sz="1200" kern="0" dirty="0" err="1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Оценка</a:t>
            </a:r>
            <a:r>
              <a:rPr lang="en-GB" sz="1200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 </a:t>
            </a:r>
            <a:r>
              <a:rPr lang="en-GB" sz="1200" kern="0" dirty="0" err="1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результата</a:t>
            </a:r>
            <a:r>
              <a:rPr lang="en-GB" sz="1200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: </a:t>
            </a:r>
            <a:br>
              <a:rPr lang="ru-RU" sz="1200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</a:br>
            <a:r>
              <a:rPr lang="en-GB" sz="1200" kern="0" dirty="0" err="1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досмотры</a:t>
            </a:r>
            <a:r>
              <a:rPr lang="en-GB" sz="1200" kern="0" dirty="0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200" kern="0" dirty="0" err="1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на</a:t>
            </a:r>
            <a:r>
              <a:rPr lang="en-GB" sz="1200" kern="0" dirty="0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200" kern="0" dirty="0" err="1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час</a:t>
            </a:r>
            <a:r>
              <a:rPr lang="en-GB" sz="1200" kern="0" dirty="0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200" kern="0" dirty="0" err="1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подготовки</a:t>
            </a:r>
            <a:r>
              <a:rPr lang="en-GB" sz="1200" kern="0" dirty="0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200" kern="0" dirty="0" err="1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карточек</a:t>
            </a:r>
            <a:r>
              <a:rPr lang="en-GB" sz="1200" kern="0" dirty="0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; </a:t>
            </a:r>
            <a:r>
              <a:rPr lang="en-GB" sz="1200" kern="0" dirty="0" err="1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дополнительно</a:t>
            </a:r>
            <a:r>
              <a:rPr lang="en-GB" sz="1200" kern="0" dirty="0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ru-RU" sz="1200" kern="0" dirty="0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-</a:t>
            </a:r>
            <a:r>
              <a:rPr lang="en-GB" sz="1200" kern="0" dirty="0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200" kern="0" dirty="0" err="1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доля</a:t>
            </a:r>
            <a:r>
              <a:rPr lang="en-GB" sz="1200" kern="0" dirty="0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 </a:t>
            </a:r>
            <a:r>
              <a:rPr lang="en-GB" sz="1200" kern="0" dirty="0" err="1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сохранений</a:t>
            </a:r>
            <a:r>
              <a:rPr lang="en-GB" sz="1200" kern="0" dirty="0">
                <a:solidFill>
                  <a:prstClr val="white">
                    <a:alpha val="70000"/>
                  </a:prstClr>
                </a:solidFill>
                <a:latin typeface="Yandex Sans Text Regular" pitchFamily="2" charset="-52"/>
                <a:cs typeface="Arial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59DB61-0AC4-113B-09CA-EC1E30D6EA96}"/>
              </a:ext>
            </a:extLst>
          </p:cNvPr>
          <p:cNvSpPr txBox="1"/>
          <p:nvPr/>
        </p:nvSpPr>
        <p:spPr>
          <a:xfrm>
            <a:off x="527048" y="4585912"/>
            <a:ext cx="5625849" cy="1723872"/>
          </a:xfrm>
          <a:prstGeom prst="rect">
            <a:avLst/>
          </a:prstGeom>
          <a:solidFill>
            <a:srgbClr val="141414"/>
          </a:solidFill>
          <a:ln w="3175">
            <a:solidFill>
              <a:schemeClr val="bg1"/>
            </a:solidFill>
          </a:ln>
        </p:spPr>
        <p:txBody>
          <a:bodyPr wrap="square" anchor="b">
            <a:noAutofit/>
          </a:bodyPr>
          <a:lstStyle/>
          <a:p>
            <a:pPr defTabSz="609585"/>
            <a:r>
              <a:rPr lang="ru-RU" sz="1400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Ограничение анализа:</a:t>
            </a:r>
          </a:p>
          <a:p>
            <a:pPr defTabSz="609585"/>
            <a:r>
              <a:rPr lang="ru-RU" sz="1067" kern="0" dirty="0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В данных не указано, </a:t>
            </a:r>
            <a:r>
              <a:rPr lang="ru-RU" sz="1067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за какой срок после публикации выгружены показатели </a:t>
            </a:r>
            <a:br>
              <a:rPr lang="ru-RU" sz="1067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</a:br>
            <a:r>
              <a:rPr lang="ru-RU" sz="1067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и получают ли более старые материалы преимущество за счёт накопления просмотров. </a:t>
            </a:r>
            <a:r>
              <a:rPr lang="ru-RU" sz="1067" kern="0" dirty="0">
                <a:solidFill>
                  <a:prstClr val="white">
                    <a:alpha val="60000"/>
                  </a:prstClr>
                </a:solidFill>
                <a:latin typeface="Yandex Sans Text Regular" pitchFamily="2" charset="-52"/>
                <a:cs typeface="Arial"/>
              </a:rPr>
              <a:t>Сравнение ранних и поздних публикаций не выявило статистически значимого различия по просмотрам (тест Уэлча, p = 0.113), но не исключает накопительного эффекта. </a:t>
            </a:r>
            <a:r>
              <a:rPr lang="ru-RU" sz="1067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Если при одинаковом сроке наблюдения преимущество карьерных карточек по доле сохранений исчезнет, пересмотрим выбор в пользу технологических карточек</a:t>
            </a:r>
            <a:endParaRPr lang="en-GB" sz="1067" kern="0" dirty="0">
              <a:solidFill>
                <a:prstClr val="white"/>
              </a:solidFill>
              <a:latin typeface="Yandex Sans Text Medium" pitchFamily="2" charset="-52"/>
              <a:cs typeface="Arial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A9A9185-96C4-ADDC-A015-703693875EA5}"/>
              </a:ext>
            </a:extLst>
          </p:cNvPr>
          <p:cNvCxnSpPr>
            <a:cxnSpLocks/>
          </p:cNvCxnSpPr>
          <p:nvPr/>
        </p:nvCxnSpPr>
        <p:spPr bwMode="auto">
          <a:xfrm>
            <a:off x="6349999" y="1361440"/>
            <a:ext cx="0" cy="4284133"/>
          </a:xfrm>
          <a:prstGeom prst="line">
            <a:avLst/>
          </a:prstGeom>
          <a:ln w="3175">
            <a:solidFill>
              <a:srgbClr val="DDF365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630F931-F22C-F18F-0C12-2B4BAF484E32}"/>
              </a:ext>
            </a:extLst>
          </p:cNvPr>
          <p:cNvCxnSpPr>
            <a:cxnSpLocks/>
          </p:cNvCxnSpPr>
          <p:nvPr/>
        </p:nvCxnSpPr>
        <p:spPr bwMode="auto">
          <a:xfrm>
            <a:off x="6349999" y="1705755"/>
            <a:ext cx="0" cy="4447819"/>
          </a:xfrm>
          <a:prstGeom prst="line">
            <a:avLst/>
          </a:prstGeom>
          <a:ln w="3175">
            <a:solidFill>
              <a:srgbClr val="DDF365"/>
            </a:solidFill>
            <a:prstDash val="lgDash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766E1A5-C4C6-0AB9-8300-BDF362FDEC3D}"/>
              </a:ext>
            </a:extLst>
          </p:cNvPr>
          <p:cNvSpPr txBox="1"/>
          <p:nvPr/>
        </p:nvSpPr>
        <p:spPr bwMode="auto">
          <a:xfrm>
            <a:off x="11412191" y="6359128"/>
            <a:ext cx="866141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585"/>
            <a:r>
              <a:rPr lang="en-US" sz="1467" kern="0" dirty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t> </a:t>
            </a:r>
            <a:fld id="{182F0A8F-E3DD-4F47-BE7A-C55C43CE4503}" type="slidenum">
              <a:rPr lang="en-US" sz="1467" kern="0">
                <a:solidFill>
                  <a:prstClr val="white"/>
                </a:solidFill>
                <a:latin typeface="Yandex Sans Text Medium" pitchFamily="2" charset="-52"/>
                <a:cs typeface="Arial"/>
              </a:rPr>
              <a:pPr defTabSz="609585"/>
              <a:t>3</a:t>
            </a:fld>
            <a:endParaRPr lang="en-GB" sz="1467" kern="0" dirty="0">
              <a:solidFill>
                <a:prstClr val="white"/>
              </a:solidFill>
              <a:latin typeface="Yandex Sans Text Medium" pitchFamily="2" charset="-5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1114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46A6FB57-7409-6588-C6FC-E5980C4867E0}"/>
              </a:ext>
            </a:extLst>
          </p:cNvPr>
          <p:cNvSpPr/>
          <p:nvPr/>
        </p:nvSpPr>
        <p:spPr bwMode="auto">
          <a:xfrm rot="15041661">
            <a:off x="8926204" y="-2673021"/>
            <a:ext cx="4886960" cy="4886960"/>
          </a:xfrm>
          <a:prstGeom prst="ellipse">
            <a:avLst/>
          </a:prstGeom>
          <a:gradFill>
            <a:gsLst>
              <a:gs pos="0">
                <a:srgbClr val="DDF365">
                  <a:alpha val="16000"/>
                </a:srgbClr>
              </a:gs>
              <a:gs pos="100000">
                <a:srgbClr val="DDF365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defTabSz="609585">
              <a:buSzPct val="100000"/>
            </a:pPr>
            <a:endParaRPr lang="en-GB" sz="1867" kern="0" dirty="0">
              <a:solidFill>
                <a:srgbClr val="F8F8F8">
                  <a:lumMod val="25000"/>
                  <a:alpha val="50000"/>
                </a:srgbClr>
              </a:solidFill>
              <a:latin typeface="Yandex Sans Text Medium" pitchFamily="2" charset="-52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-1936639" y="2884371"/>
            <a:ext cx="16065277" cy="827616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5867" dirty="0">
                <a:latin typeface="Yandex Sans Display Bold" pitchFamily="2" charset="-52"/>
              </a:rPr>
              <a:t>Спасибо </a:t>
            </a:r>
            <a:br>
              <a:rPr lang="ru-RU" sz="5867" dirty="0">
                <a:latin typeface="Yandex Sans Display Bold" pitchFamily="2" charset="-52"/>
              </a:rPr>
            </a:br>
            <a:r>
              <a:rPr lang="ru-RU" sz="5867" dirty="0">
                <a:latin typeface="Yandex Sans Display Bold" pitchFamily="2" charset="-52"/>
              </a:rPr>
              <a:t>за внимание!</a:t>
            </a:r>
            <a:endParaRPr lang="en-US" sz="5867" dirty="0">
              <a:latin typeface="Yandex Sans Display Bold" pitchFamily="2" charset="-5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1542168" y="5958349"/>
            <a:ext cx="184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609585">
              <a:defRPr/>
            </a:pPr>
            <a:endParaRPr sz="2400" kern="0">
              <a:solidFill>
                <a:prstClr val="black"/>
              </a:solidFill>
              <a:latin typeface="Calibri"/>
              <a:cs typeface="Arial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DE307FE-8B1E-8229-58F2-DC46AAD5AC62}"/>
              </a:ext>
            </a:extLst>
          </p:cNvPr>
          <p:cNvSpPr/>
          <p:nvPr/>
        </p:nvSpPr>
        <p:spPr bwMode="auto">
          <a:xfrm>
            <a:off x="9283417" y="-2183451"/>
            <a:ext cx="4886960" cy="4886960"/>
          </a:xfrm>
          <a:prstGeom prst="ellipse">
            <a:avLst/>
          </a:prstGeom>
          <a:noFill/>
          <a:ln w="3175">
            <a:solidFill>
              <a:schemeClr val="bg1">
                <a:alpha val="42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defTabSz="609585">
              <a:buSzPct val="100000"/>
            </a:pPr>
            <a:endParaRPr lang="en-GB" sz="1867" kern="0" dirty="0">
              <a:solidFill>
                <a:srgbClr val="F8F8F8">
                  <a:lumMod val="25000"/>
                  <a:alpha val="50000"/>
                </a:srgbClr>
              </a:solidFill>
              <a:latin typeface="Yandex Sans Text Medium" pitchFamily="2" charset="-52"/>
              <a:cs typeface="Arial"/>
            </a:endParaRP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1011D191-E639-6FE7-C30C-E4D2EE9CD6EF}"/>
              </a:ext>
            </a:extLst>
          </p:cNvPr>
          <p:cNvSpPr/>
          <p:nvPr/>
        </p:nvSpPr>
        <p:spPr bwMode="auto">
          <a:xfrm rot="7026594">
            <a:off x="-1382965" y="2564141"/>
            <a:ext cx="4409780" cy="4409780"/>
          </a:xfrm>
          <a:prstGeom prst="triangle">
            <a:avLst>
              <a:gd name="adj" fmla="val 66840"/>
            </a:avLst>
          </a:prstGeom>
          <a:solidFill>
            <a:srgbClr val="7451F4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defTabSz="609585">
              <a:buSzPct val="100000"/>
            </a:pPr>
            <a:endParaRPr lang="en-GB" sz="1867" kern="0" dirty="0">
              <a:solidFill>
                <a:srgbClr val="F8F8F8">
                  <a:lumMod val="25000"/>
                  <a:alpha val="50000"/>
                </a:srgbClr>
              </a:solidFill>
              <a:latin typeface="Yandex Sans Text Medium" pitchFamily="2" charset="-52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8A31D7-FECF-A679-358B-EFE530FFBA3C}"/>
              </a:ext>
            </a:extLst>
          </p:cNvPr>
          <p:cNvSpPr txBox="1"/>
          <p:nvPr/>
        </p:nvSpPr>
        <p:spPr>
          <a:xfrm>
            <a:off x="2011680" y="6017760"/>
            <a:ext cx="816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09585"/>
            <a:r>
              <a:rPr lang="ru-RU" sz="1600" b="1" kern="0" dirty="0">
                <a:solidFill>
                  <a:prstClr val="white"/>
                </a:solidFill>
                <a:latin typeface="Yandex Sans Display Bold" pitchFamily="2" charset="-52"/>
                <a:cs typeface="Arial"/>
              </a:rPr>
              <a:t>Олег Юхимец </a:t>
            </a:r>
            <a:r>
              <a:rPr lang="en-US" sz="1600" b="1" kern="0" dirty="0">
                <a:solidFill>
                  <a:prstClr val="white"/>
                </a:solidFill>
                <a:latin typeface="Yandex Sans Display Bold" pitchFamily="2" charset="-52"/>
                <a:cs typeface="Arial"/>
              </a:rPr>
              <a:t>| ouhimec@gmail.com</a:t>
            </a:r>
            <a:endParaRPr lang="en-GB" sz="1467" kern="0" dirty="0">
              <a:solidFill>
                <a:prstClr val="black"/>
              </a:solidFill>
              <a:latin typeface="Calibri"/>
              <a:cs typeface="Arial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AF9C231-1722-ED1B-D58D-0C35B76A6E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92" t="10042" r="3275" b="20183"/>
          <a:stretch>
            <a:fillRect/>
          </a:stretch>
        </p:blipFill>
        <p:spPr>
          <a:xfrm>
            <a:off x="5746264" y="5258876"/>
            <a:ext cx="699472" cy="699472"/>
          </a:xfrm>
          <a:custGeom>
            <a:avLst/>
            <a:gdLst>
              <a:gd name="csX0" fmla="*/ 1216660 w 2433320"/>
              <a:gd name="csY0" fmla="*/ 0 h 2433320"/>
              <a:gd name="csX1" fmla="*/ 2433320 w 2433320"/>
              <a:gd name="csY1" fmla="*/ 1216660 h 2433320"/>
              <a:gd name="csX2" fmla="*/ 1216660 w 2433320"/>
              <a:gd name="csY2" fmla="*/ 2433320 h 2433320"/>
              <a:gd name="csX3" fmla="*/ 0 w 2433320"/>
              <a:gd name="csY3" fmla="*/ 1216660 h 2433320"/>
              <a:gd name="csX4" fmla="*/ 1216660 w 2433320"/>
              <a:gd name="csY4" fmla="*/ 0 h 24333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433320" h="2433320">
                <a:moveTo>
                  <a:pt x="1216660" y="0"/>
                </a:moveTo>
                <a:cubicBezTo>
                  <a:pt x="1888603" y="0"/>
                  <a:pt x="2433320" y="544717"/>
                  <a:pt x="2433320" y="1216660"/>
                </a:cubicBezTo>
                <a:cubicBezTo>
                  <a:pt x="2433320" y="1888603"/>
                  <a:pt x="1888603" y="2433320"/>
                  <a:pt x="1216660" y="2433320"/>
                </a:cubicBezTo>
                <a:cubicBezTo>
                  <a:pt x="544717" y="2433320"/>
                  <a:pt x="0" y="1888603"/>
                  <a:pt x="0" y="1216660"/>
                </a:cubicBezTo>
                <a:cubicBezTo>
                  <a:pt x="0" y="544717"/>
                  <a:pt x="544717" y="0"/>
                  <a:pt x="1216660" y="0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theme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solidFill>
          <a:schemeClr val="bg1"/>
        </a:solidFill>
        <a:ln>
          <a:noFill/>
        </a:ln>
        <a:effectLst/>
      </a:spPr>
      <a:bodyPr rtlCol="0" anchor="b"/>
      <a:lstStyle>
        <a:defPPr marR="0" algn="l" defTabSz="4572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tabLst/>
          <a:defRPr kumimoji="0" sz="1400" b="0" i="0" u="none" strike="noStrike" kern="0" cap="none" spc="0" normalizeH="0" baseline="0" noProof="0" dirty="0" smtClean="0">
            <a:ln>
              <a:noFill/>
            </a:ln>
            <a:solidFill>
              <a:schemeClr val="bg2">
                <a:lumMod val="25000"/>
                <a:alpha val="50000"/>
              </a:schemeClr>
            </a:solidFill>
            <a:effectLst/>
            <a:uLnTx/>
            <a:uFillTx/>
            <a:latin typeface="Yandex Sans Text Medium" pitchFamily="2" charset="-52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ln w="3175">
          <a:solidFill>
            <a:srgbClr val="DDF365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</Words>
  <Application>Microsoft Office PowerPoint</Application>
  <PresentationFormat>Widescreen</PresentationFormat>
  <Paragraphs>50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8" baseType="lpstr">
      <vt:lpstr>ALS Gorizont Bold Expanded</vt:lpstr>
      <vt:lpstr>Aptos</vt:lpstr>
      <vt:lpstr>Aptos Display</vt:lpstr>
      <vt:lpstr>Arial</vt:lpstr>
      <vt:lpstr>Calibri</vt:lpstr>
      <vt:lpstr>Golos Text</vt:lpstr>
      <vt:lpstr>Golos Text DemiBold</vt:lpstr>
      <vt:lpstr>Yandex Sans Display Bold</vt:lpstr>
      <vt:lpstr>Yandex Sans Display Regular</vt:lpstr>
      <vt:lpstr>Yandex Sans Text Bold</vt:lpstr>
      <vt:lpstr>Yandex Sans Text Medium</vt:lpstr>
      <vt:lpstr>Yandex Sans Text Regular</vt:lpstr>
      <vt:lpstr>Office Theme</vt:lpstr>
      <vt:lpstr>Custom theme</vt:lpstr>
      <vt:lpstr>   Рекомендация публикационной стратегии карьерного сообщества</vt:lpstr>
      <vt:lpstr>PowerPoint Presentation</vt:lpstr>
      <vt:lpstr>PowerPoint Presentation</vt:lpstr>
      <vt:lpstr>Спасибо 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Юхимец Олег</dc:creator>
  <cp:lastModifiedBy>Юхимец Олег</cp:lastModifiedBy>
  <cp:revision>2</cp:revision>
  <dcterms:created xsi:type="dcterms:W3CDTF">2026-09-26T14:42:42Z</dcterms:created>
  <dcterms:modified xsi:type="dcterms:W3CDTF">2026-09-28T20:07:46Z</dcterms:modified>
</cp:coreProperties>
</file>